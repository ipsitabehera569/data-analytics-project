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6"/>
  </p:notesMasterIdLst>
  <p:handoutMasterIdLst>
    <p:handoutMasterId r:id="rId17"/>
  </p:handoutMasterIdLst>
  <p:sldIdLst>
    <p:sldId id="268" r:id="rId2"/>
    <p:sldId id="258" r:id="rId3"/>
    <p:sldId id="279" r:id="rId4"/>
    <p:sldId id="273" r:id="rId5"/>
    <p:sldId id="270" r:id="rId6"/>
    <p:sldId id="259" r:id="rId7"/>
    <p:sldId id="261" r:id="rId8"/>
    <p:sldId id="262" r:id="rId9"/>
    <p:sldId id="274" r:id="rId10"/>
    <p:sldId id="266" r:id="rId11"/>
    <p:sldId id="275" r:id="rId12"/>
    <p:sldId id="276" r:id="rId13"/>
    <p:sldId id="277" r:id="rId14"/>
    <p:sldId id="27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95" d="100"/>
          <a:sy n="95" d="100"/>
        </p:scale>
        <p:origin x="358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00"/>
        <c:overlap val="-24"/>
        <c:axId val="41099240"/>
        <c:axId val="41100416"/>
      </c:barChart>
      <c:catAx>
        <c:axId val="4109924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1100416"/>
        <c:crosses val="autoZero"/>
        <c:auto val="1"/>
        <c:lblAlgn val="ctr"/>
        <c:lblOffset val="100"/>
        <c:noMultiLvlLbl val="0"/>
      </c:catAx>
      <c:valAx>
        <c:axId val="411004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1099240"/>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3.jp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E29E6FE9-EADE-40DF-7170-A1B4AF292602}"/>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1905000"/>
          <a:ext cx="10810240" cy="4363720"/>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F93605-0C0C-4258-9724-5F2F9BB3BC90}" type="datetimeFigureOut">
              <a:rPr lang="en-US" smtClean="0"/>
              <a:t>7/30/2025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3FFE7F-C917-439A-8026-3D301EB5CC28}" type="slidenum">
              <a:rPr lang="en-US" smtClean="0"/>
              <a:t>‹#›</a:t>
            </a:fld>
            <a:endParaRPr lang="en-US"/>
          </a:p>
        </p:txBody>
      </p:sp>
    </p:spTree>
    <p:extLst>
      <p:ext uri="{BB962C8B-B14F-4D97-AF65-F5344CB8AC3E}">
        <p14:creationId xmlns:p14="http://schemas.microsoft.com/office/powerpoint/2010/main" val="752799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31B3D-E4E3-4A80-AB70-C5564C267266}"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0B30D-C07A-425B-A90C-BA7BEB191079}" type="slidenum">
              <a:rPr lang="en-US" smtClean="0"/>
              <a:t>‹#›</a:t>
            </a:fld>
            <a:endParaRPr lang="en-US"/>
          </a:p>
        </p:txBody>
      </p:sp>
    </p:spTree>
    <p:extLst>
      <p:ext uri="{BB962C8B-B14F-4D97-AF65-F5344CB8AC3E}">
        <p14:creationId xmlns:p14="http://schemas.microsoft.com/office/powerpoint/2010/main" val="3723190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75A936-1AF0-4A26-8183-FEADFB6CAB08}"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5E4F74-291E-4B10-B7B3-F5FA8E2B09A2}" type="slidenum">
              <a:rPr lang="en-IN" smtClean="0"/>
              <a:t>‹#›</a:t>
            </a:fld>
            <a:endParaRPr lang="en-IN"/>
          </a:p>
        </p:txBody>
      </p:sp>
    </p:spTree>
    <p:extLst>
      <p:ext uri="{BB962C8B-B14F-4D97-AF65-F5344CB8AC3E}">
        <p14:creationId xmlns:p14="http://schemas.microsoft.com/office/powerpoint/2010/main" val="279975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44469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75A936-1AF0-4A26-8183-FEADFB6CAB08}"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5E4F74-291E-4B10-B7B3-F5FA8E2B09A2}" type="slidenum">
              <a:rPr lang="en-IN" smtClean="0"/>
              <a:t>‹#›</a:t>
            </a:fld>
            <a:endParaRPr lang="en-IN"/>
          </a:p>
        </p:txBody>
      </p:sp>
    </p:spTree>
    <p:extLst>
      <p:ext uri="{BB962C8B-B14F-4D97-AF65-F5344CB8AC3E}">
        <p14:creationId xmlns:p14="http://schemas.microsoft.com/office/powerpoint/2010/main" val="419760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CC0096-1860-4642-9CD2-0079EA5E7CD1}" type="datetimeFigureOut">
              <a:rPr lang="en-US" smtClean="0"/>
              <a:t>7/30/2025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62845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CC0096-1860-4642-9CD2-0079EA5E7CD1}" type="datetimeFigureOut">
              <a:rPr lang="en-US" smtClean="0"/>
              <a:t>7/30/2025</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77823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CC0096-1860-4642-9CD2-0079EA5E7CD1}" type="datetimeFigureOut">
              <a:rPr lang="en-US" smtClean="0"/>
              <a:t>7/30/2025</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5397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CC0096-1860-4642-9CD2-0079EA5E7CD1}" type="datetimeFigureOut">
              <a:rPr lang="en-US" smtClean="0"/>
              <a:t>7/30/2025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41038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CC0096-1860-4642-9CD2-0079EA5E7CD1}"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68084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75A936-1AF0-4A26-8183-FEADFB6CAB08}" type="datetimeFigureOut">
              <a:rPr lang="en-IN" smtClean="0"/>
              <a:t>30-07-2025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5E4F74-291E-4B10-B7B3-F5FA8E2B09A2}" type="slidenum">
              <a:rPr lang="en-IN" smtClean="0"/>
              <a:t>‹#›</a:t>
            </a:fld>
            <a:endParaRPr lang="en-IN"/>
          </a:p>
        </p:txBody>
      </p:sp>
    </p:spTree>
    <p:extLst>
      <p:ext uri="{BB962C8B-B14F-4D97-AF65-F5344CB8AC3E}">
        <p14:creationId xmlns:p14="http://schemas.microsoft.com/office/powerpoint/2010/main" val="1087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63018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5304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299721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38370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715833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22467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85598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CC0096-1860-4642-9CD2-0079EA5E7CD1}" type="datetimeFigureOut">
              <a:rPr lang="en-US" smtClean="0"/>
              <a:pPr/>
              <a:t>7/30/2025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47815789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0240" y="243840"/>
            <a:ext cx="7214429" cy="885164"/>
          </a:xfrm>
        </p:spPr>
        <p:txBody>
          <a:bodyPr/>
          <a:lstStyle/>
          <a:p>
            <a:pPr algn="ctr"/>
            <a:r>
              <a:rPr lang="en-US" b="1" dirty="0">
                <a:solidFill>
                  <a:schemeClr val="accent2">
                    <a:lumMod val="20000"/>
                    <a:lumOff val="80000"/>
                  </a:schemeClr>
                </a:solidFill>
                <a:highlight>
                  <a:srgbClr val="808000"/>
                </a:highlight>
              </a:rPr>
              <a:t>CAR SALES</a:t>
            </a:r>
          </a:p>
        </p:txBody>
      </p:sp>
      <p:sp>
        <p:nvSpPr>
          <p:cNvPr id="3" name="Subtitle 2"/>
          <p:cNvSpPr>
            <a:spLocks noGrp="1"/>
          </p:cNvSpPr>
          <p:nvPr>
            <p:ph type="subTitle" idx="1"/>
          </p:nvPr>
        </p:nvSpPr>
        <p:spPr>
          <a:xfrm>
            <a:off x="783770" y="1735494"/>
            <a:ext cx="8350899" cy="3694923"/>
          </a:xfrm>
        </p:spPr>
        <p:txBody>
          <a:bodyPr>
            <a:normAutofit fontScale="92500" lnSpcReduction="20000"/>
          </a:bodyPr>
          <a:lstStyle/>
          <a:p>
            <a:r>
              <a:rPr lang="en-IN" sz="4000" dirty="0">
                <a:solidFill>
                  <a:srgbClr val="00B0F0"/>
                </a:solidFill>
              </a:rPr>
              <a:t>COMPREHENSIVE CAR SALES DATA ANALYSIS AND VISUALIZATION </a:t>
            </a:r>
          </a:p>
          <a:p>
            <a:r>
              <a:rPr lang="en-US" sz="2600" b="1" dirty="0">
                <a:highlight>
                  <a:srgbClr val="FFFF00"/>
                </a:highlight>
              </a:rPr>
              <a:t>Presented By:</a:t>
            </a:r>
          </a:p>
          <a:p>
            <a:r>
              <a:rPr lang="en-US" dirty="0"/>
              <a:t>Priyanshu Rout</a:t>
            </a:r>
          </a:p>
          <a:p>
            <a:r>
              <a:rPr lang="en-US" dirty="0"/>
              <a:t>Ipsita Behera</a:t>
            </a:r>
          </a:p>
          <a:p>
            <a:r>
              <a:rPr lang="en-US" dirty="0"/>
              <a:t>Shibani Subhadarsini</a:t>
            </a:r>
          </a:p>
          <a:p>
            <a:r>
              <a:rPr lang="en-US" dirty="0"/>
              <a:t>Suchismita Barik</a:t>
            </a:r>
          </a:p>
          <a:p>
            <a:r>
              <a:rPr lang="en-US" dirty="0"/>
              <a:t>Sambit Mahalik</a:t>
            </a:r>
          </a:p>
          <a:p>
            <a:r>
              <a:rPr lang="en-US" dirty="0" err="1"/>
              <a:t>Samikshya</a:t>
            </a:r>
            <a:r>
              <a:rPr lang="en-US" dirty="0"/>
              <a:t> </a:t>
            </a:r>
            <a:r>
              <a:rPr lang="en-US" dirty="0" err="1"/>
              <a:t>Satpathy</a:t>
            </a:r>
            <a:endParaRPr lang="en-US" dirty="0"/>
          </a:p>
        </p:txBody>
      </p:sp>
    </p:spTree>
    <p:extLst>
      <p:ext uri="{BB962C8B-B14F-4D97-AF65-F5344CB8AC3E}">
        <p14:creationId xmlns:p14="http://schemas.microsoft.com/office/powerpoint/2010/main" val="23701107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latin typeface="Calibri"/>
                <a:cs typeface="Calibri"/>
              </a:rPr>
              <a:t>The automobile resale market is growing rapidly. However, determining a fair resale price for a used car is a complex task involving multiple factors such as brand, model, manufacturing year, kilometers driven, fuel type, transmission, etc. This project aims to develop a machine learning-based car selling price prediction model that helps both buyers and sellers estimate the ideal resale value of a car.</a:t>
            </a:r>
          </a:p>
          <a:p>
            <a:endParaRPr lang="en-US" dirty="0"/>
          </a:p>
        </p:txBody>
      </p:sp>
    </p:spTree>
    <p:extLst>
      <p:ext uri="{BB962C8B-B14F-4D97-AF65-F5344CB8AC3E}">
        <p14:creationId xmlns:p14="http://schemas.microsoft.com/office/powerpoint/2010/main" val="22535369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9DE6-D9D9-9999-E276-0DB02DC0D5D0}"/>
              </a:ext>
            </a:extLst>
          </p:cNvPr>
          <p:cNvSpPr>
            <a:spLocks noGrp="1"/>
          </p:cNvSpPr>
          <p:nvPr>
            <p:ph type="title"/>
          </p:nvPr>
        </p:nvSpPr>
        <p:spPr/>
        <p:txBody>
          <a:bodyPr/>
          <a:lstStyle/>
          <a:p>
            <a:r>
              <a:rPr lang="en-US" dirty="0"/>
              <a:t>OBJECTIVE</a:t>
            </a:r>
            <a:endParaRPr lang="en-IN" dirty="0"/>
          </a:p>
        </p:txBody>
      </p:sp>
      <p:sp>
        <p:nvSpPr>
          <p:cNvPr id="3" name="Content Placeholder 2">
            <a:extLst>
              <a:ext uri="{FF2B5EF4-FFF2-40B4-BE49-F238E27FC236}">
                <a16:creationId xmlns:a16="http://schemas.microsoft.com/office/drawing/2014/main" id="{070F4295-F12D-BDAE-B2C2-854FB80782CB}"/>
              </a:ext>
            </a:extLst>
          </p:cNvPr>
          <p:cNvSpPr>
            <a:spLocks noGrp="1"/>
          </p:cNvSpPr>
          <p:nvPr>
            <p:ph idx="1"/>
          </p:nvPr>
        </p:nvSpPr>
        <p:spPr/>
        <p:txBody>
          <a:bodyPr/>
          <a:lstStyle/>
          <a:p>
            <a:pPr marL="0" indent="0">
              <a:buNone/>
            </a:pPr>
            <a:endParaRPr lang="en-IN" dirty="0"/>
          </a:p>
          <a:p>
            <a:r>
              <a:rPr lang="en-IN" dirty="0"/>
              <a:t>The primary objective of this project is to explore, analyse, and visualize automobile sales data to identify significant trends, insights, and key performance metrics within the Indian car market. By transforming raw data into visually interactive dashboards, the aim is to facilitate informed decision-making for stakeholders including customers, dealers, market analysts, and business strategists. The analysis focuses on various attributes such as car brand, model, price, year of manufacture, fuel type, owner history, car type, and geographical location. The visualization reveals which car types and brands are popular, how ownership and fuel types affect pricing, and regional trends in car sales across India.</a:t>
            </a:r>
          </a:p>
          <a:p>
            <a:endParaRPr lang="en-IN" dirty="0"/>
          </a:p>
        </p:txBody>
      </p:sp>
    </p:spTree>
    <p:extLst>
      <p:ext uri="{BB962C8B-B14F-4D97-AF65-F5344CB8AC3E}">
        <p14:creationId xmlns:p14="http://schemas.microsoft.com/office/powerpoint/2010/main" val="144318966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3815-D2CF-91FD-2286-C970807C5EC4}"/>
              </a:ext>
            </a:extLst>
          </p:cNvPr>
          <p:cNvSpPr>
            <a:spLocks noGrp="1"/>
          </p:cNvSpPr>
          <p:nvPr>
            <p:ph type="title"/>
          </p:nvPr>
        </p:nvSpPr>
        <p:spPr>
          <a:xfrm>
            <a:off x="396240" y="812801"/>
            <a:ext cx="4592320" cy="1645920"/>
          </a:xfrm>
        </p:spPr>
        <p:txBody>
          <a:bodyPr/>
          <a:lstStyle/>
          <a:p>
            <a:r>
              <a:rPr lang="en-US" dirty="0"/>
              <a:t>MICROSOFT_EXCEL</a:t>
            </a:r>
            <a:endParaRPr lang="en-IN" dirty="0"/>
          </a:p>
        </p:txBody>
      </p:sp>
      <p:pic>
        <p:nvPicPr>
          <p:cNvPr id="6" name="Picture Placeholder 5">
            <a:extLst>
              <a:ext uri="{FF2B5EF4-FFF2-40B4-BE49-F238E27FC236}">
                <a16:creationId xmlns:a16="http://schemas.microsoft.com/office/drawing/2014/main" id="{085A9AF4-7E2A-57DD-3E0F-6E597B20CC2B}"/>
              </a:ext>
            </a:extLst>
          </p:cNvPr>
          <p:cNvPicPr>
            <a:picLocks noGrp="1" noChangeAspect="1"/>
          </p:cNvPicPr>
          <p:nvPr>
            <p:ph type="pic" idx="1"/>
          </p:nvPr>
        </p:nvPicPr>
        <p:blipFill>
          <a:blip r:embed="rId2">
            <a:extLst>
              <a:ext uri="{96DAC541-7B7A-43D3-8B79-37D633B846F1}">
                <asvg:svgBlip xmlns:asvg="http://schemas.microsoft.com/office/drawing/2016/SVG/main" r:embed="rId3"/>
              </a:ext>
            </a:extLst>
          </a:blip>
          <a:srcRect t="16454" b="16454"/>
          <a:stretch>
            <a:fillRect/>
          </a:stretch>
        </p:blipFill>
        <p:spPr>
          <a:xfrm>
            <a:off x="3501814" y="1259840"/>
            <a:ext cx="8596668" cy="3845718"/>
          </a:xfrm>
        </p:spPr>
      </p:pic>
      <p:sp>
        <p:nvSpPr>
          <p:cNvPr id="4" name="Text Placeholder 3">
            <a:extLst>
              <a:ext uri="{FF2B5EF4-FFF2-40B4-BE49-F238E27FC236}">
                <a16:creationId xmlns:a16="http://schemas.microsoft.com/office/drawing/2014/main" id="{6F09646A-C38A-5536-172C-CBF3A3141D99}"/>
              </a:ext>
            </a:extLst>
          </p:cNvPr>
          <p:cNvSpPr>
            <a:spLocks noGrp="1"/>
          </p:cNvSpPr>
          <p:nvPr>
            <p:ph type="body" sz="half" idx="2"/>
          </p:nvPr>
        </p:nvSpPr>
        <p:spPr>
          <a:xfrm>
            <a:off x="182880" y="2804161"/>
            <a:ext cx="5496560" cy="2550159"/>
          </a:xfrm>
        </p:spPr>
        <p:txBody>
          <a:bodyPr/>
          <a:lstStyle/>
          <a:p>
            <a:r>
              <a:rPr lang="en-US" sz="2400" b="1" dirty="0"/>
              <a:t>Microsoft Excel is a spreadsheet software developed by Microsoft. It is used for storing, organizing , analyzing and visualizing data in tabular form </a:t>
            </a:r>
            <a:endParaRPr lang="en-IN" sz="2400" b="1" dirty="0"/>
          </a:p>
          <a:p>
            <a:endParaRPr lang="en-IN" dirty="0"/>
          </a:p>
        </p:txBody>
      </p:sp>
    </p:spTree>
    <p:extLst>
      <p:ext uri="{BB962C8B-B14F-4D97-AF65-F5344CB8AC3E}">
        <p14:creationId xmlns:p14="http://schemas.microsoft.com/office/powerpoint/2010/main" val="1440599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3F48-666C-5620-0EB2-99966B12C6A9}"/>
              </a:ext>
            </a:extLst>
          </p:cNvPr>
          <p:cNvSpPr>
            <a:spLocks noGrp="1"/>
          </p:cNvSpPr>
          <p:nvPr>
            <p:ph type="title"/>
          </p:nvPr>
        </p:nvSpPr>
        <p:spPr>
          <a:xfrm>
            <a:off x="1066800" y="0"/>
            <a:ext cx="10058400" cy="741680"/>
          </a:xfrm>
        </p:spPr>
        <p:txBody>
          <a:bodyPr/>
          <a:lstStyle/>
          <a:p>
            <a:pPr algn="ctr"/>
            <a:r>
              <a:rPr lang="en-US" dirty="0"/>
              <a:t>Data Sell Model</a:t>
            </a:r>
            <a:endParaRPr lang="en-IN" dirty="0"/>
          </a:p>
        </p:txBody>
      </p:sp>
      <p:sp>
        <p:nvSpPr>
          <p:cNvPr id="3" name="Content Placeholder 2">
            <a:extLst>
              <a:ext uri="{FF2B5EF4-FFF2-40B4-BE49-F238E27FC236}">
                <a16:creationId xmlns:a16="http://schemas.microsoft.com/office/drawing/2014/main" id="{F90444B0-2B08-10B2-7120-229F2EBFC80B}"/>
              </a:ext>
            </a:extLst>
          </p:cNvPr>
          <p:cNvSpPr>
            <a:spLocks noGrp="1"/>
          </p:cNvSpPr>
          <p:nvPr>
            <p:ph idx="1"/>
          </p:nvPr>
        </p:nvSpPr>
        <p:spPr>
          <a:xfrm>
            <a:off x="162560" y="741680"/>
            <a:ext cx="10962640" cy="5933440"/>
          </a:xfrm>
        </p:spPr>
        <p:txBody>
          <a:bodyPr>
            <a:normAutofit fontScale="32500" lnSpcReduction="20000"/>
          </a:bodyPr>
          <a:lstStyle/>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Car Name </a:t>
            </a:r>
            <a:r>
              <a:rPr lang="en-US" sz="6400" b="1" dirty="0">
                <a:latin typeface="Times New Roman"/>
                <a:cs typeface="Times New Roman"/>
              </a:rPr>
              <a:t>:</a:t>
            </a:r>
            <a:r>
              <a:rPr lang="en-US" sz="6400" spc="-15" dirty="0">
                <a:latin typeface="Times New Roman"/>
                <a:cs typeface="Times New Roman"/>
              </a:rPr>
              <a:t> </a:t>
            </a:r>
            <a:r>
              <a:rPr lang="en-US" sz="6400" dirty="0">
                <a:latin typeface="Times New Roman"/>
                <a:cs typeface="Times New Roman"/>
              </a:rPr>
              <a:t>Brand/model of the car</a:t>
            </a:r>
          </a:p>
          <a:p>
            <a:pPr>
              <a:lnSpc>
                <a:spcPct val="100000"/>
              </a:lnSpc>
              <a:spcBef>
                <a:spcPts val="60"/>
              </a:spcBef>
              <a:buFont typeface="Symbol"/>
              <a:buChar char=""/>
            </a:pPr>
            <a:endParaRPr lang="en-US" sz="6400" dirty="0">
              <a:latin typeface="Times New Roman"/>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Year: </a:t>
            </a:r>
            <a:r>
              <a:rPr lang="en-US" sz="6400" dirty="0">
                <a:latin typeface="Times New Roman"/>
                <a:cs typeface="Times New Roman"/>
              </a:rPr>
              <a:t>Year of Purchase</a:t>
            </a:r>
          </a:p>
          <a:p>
            <a:pPr marL="927100">
              <a:lnSpc>
                <a:spcPct val="100000"/>
              </a:lnSpc>
              <a:buFont typeface="Symbol"/>
              <a:buChar char=""/>
              <a:tabLst>
                <a:tab pos="927100" algn="l"/>
              </a:tabLst>
            </a:pPr>
            <a:endParaRPr lang="en-US" sz="6400" b="1" spc="-10" dirty="0">
              <a:latin typeface="Arial Black" panose="020B0A04020102020204" pitchFamily="34" charset="0"/>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Present Price: </a:t>
            </a:r>
            <a:r>
              <a:rPr lang="en-US" sz="6400" dirty="0">
                <a:latin typeface="Times New Roman"/>
                <a:cs typeface="Times New Roman"/>
              </a:rPr>
              <a:t>Current showroom price</a:t>
            </a:r>
          </a:p>
          <a:p>
            <a:pPr marL="927100">
              <a:lnSpc>
                <a:spcPct val="100000"/>
              </a:lnSpc>
              <a:buFont typeface="Symbol"/>
              <a:buChar char=""/>
              <a:tabLst>
                <a:tab pos="927100" algn="l"/>
              </a:tabLst>
            </a:pPr>
            <a:endParaRPr lang="en-US" sz="6400" b="1" spc="-10" dirty="0">
              <a:latin typeface="Arial Black" panose="020B0A04020102020204" pitchFamily="34" charset="0"/>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KMS Driven: </a:t>
            </a:r>
            <a:r>
              <a:rPr lang="en-US" sz="6400" dirty="0">
                <a:latin typeface="Times New Roman"/>
                <a:cs typeface="Times New Roman"/>
              </a:rPr>
              <a:t>Distance driven in Kilometers</a:t>
            </a:r>
          </a:p>
          <a:p>
            <a:pPr marL="927100">
              <a:lnSpc>
                <a:spcPct val="100000"/>
              </a:lnSpc>
              <a:buFont typeface="Symbol"/>
              <a:buChar char=""/>
              <a:tabLst>
                <a:tab pos="927100" algn="l"/>
              </a:tabLst>
            </a:pPr>
            <a:endParaRPr lang="en-US" sz="6400" b="1" spc="-10" dirty="0">
              <a:latin typeface="Arial Black" panose="020B0A04020102020204" pitchFamily="34" charset="0"/>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Transmission: </a:t>
            </a:r>
            <a:r>
              <a:rPr lang="en-US" sz="6400" dirty="0">
                <a:latin typeface="Times New Roman"/>
                <a:cs typeface="Times New Roman"/>
              </a:rPr>
              <a:t>Manual or Automatic</a:t>
            </a:r>
          </a:p>
          <a:p>
            <a:pPr marL="927100">
              <a:lnSpc>
                <a:spcPct val="100000"/>
              </a:lnSpc>
              <a:buFont typeface="Symbol"/>
              <a:buChar char=""/>
              <a:tabLst>
                <a:tab pos="927100" algn="l"/>
              </a:tabLst>
            </a:pPr>
            <a:endParaRPr lang="en-US" sz="6400" dirty="0">
              <a:latin typeface="Times New Roman"/>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Owner: </a:t>
            </a:r>
            <a:r>
              <a:rPr lang="en-US" sz="6400" dirty="0">
                <a:latin typeface="Times New Roman"/>
                <a:cs typeface="Times New Roman"/>
              </a:rPr>
              <a:t>Number of previous owner</a:t>
            </a:r>
          </a:p>
          <a:p>
            <a:pPr marL="927100">
              <a:lnSpc>
                <a:spcPct val="100000"/>
              </a:lnSpc>
              <a:buFont typeface="Symbol"/>
              <a:buChar char=""/>
              <a:tabLst>
                <a:tab pos="927100" algn="l"/>
              </a:tabLst>
            </a:pPr>
            <a:endParaRPr lang="en-US" sz="6400" dirty="0">
              <a:latin typeface="Times New Roman"/>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Selling Price: </a:t>
            </a:r>
            <a:r>
              <a:rPr lang="en-US" sz="6400" dirty="0">
                <a:latin typeface="Times New Roman"/>
                <a:cs typeface="Times New Roman"/>
              </a:rPr>
              <a:t>Target column</a:t>
            </a:r>
          </a:p>
          <a:p>
            <a:pPr marL="927100">
              <a:lnSpc>
                <a:spcPct val="100000"/>
              </a:lnSpc>
              <a:buFont typeface="Symbol"/>
              <a:buChar char=""/>
              <a:tabLst>
                <a:tab pos="927100" algn="l"/>
              </a:tabLst>
            </a:pPr>
            <a:endParaRPr lang="en-US" sz="6400" b="1" spc="-10" dirty="0">
              <a:latin typeface="Arial Black" panose="020B0A04020102020204" pitchFamily="34" charset="0"/>
              <a:cs typeface="Times New Roman"/>
            </a:endParaRPr>
          </a:p>
          <a:p>
            <a:pPr marL="927100">
              <a:lnSpc>
                <a:spcPct val="100000"/>
              </a:lnSpc>
              <a:buFont typeface="Symbol"/>
              <a:buChar char=""/>
              <a:tabLst>
                <a:tab pos="927100" algn="l"/>
              </a:tabLst>
            </a:pPr>
            <a:r>
              <a:rPr lang="en-US" sz="6400" b="1" spc="-10" dirty="0">
                <a:latin typeface="Arial Black" panose="020B0A04020102020204" pitchFamily="34" charset="0"/>
                <a:cs typeface="Times New Roman"/>
              </a:rPr>
              <a:t>Seller Type: </a:t>
            </a:r>
            <a:r>
              <a:rPr lang="en-US" sz="6400" dirty="0">
                <a:latin typeface="Times New Roman"/>
                <a:cs typeface="Times New Roman"/>
              </a:rPr>
              <a:t>Dealer or Individual</a:t>
            </a:r>
          </a:p>
          <a:p>
            <a:endParaRPr lang="en-IN" dirty="0"/>
          </a:p>
        </p:txBody>
      </p:sp>
    </p:spTree>
    <p:extLst>
      <p:ext uri="{BB962C8B-B14F-4D97-AF65-F5344CB8AC3E}">
        <p14:creationId xmlns:p14="http://schemas.microsoft.com/office/powerpoint/2010/main" val="90684951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518"/>
            <a:ext cx="10058400" cy="528002"/>
          </a:xfrm>
        </p:spPr>
        <p:txBody>
          <a:bodyPr>
            <a:normAutofit fontScale="90000"/>
          </a:bodyPr>
          <a:lstStyle/>
          <a:p>
            <a:pPr algn="ctr"/>
            <a:endParaRPr lang="en-US" dirty="0"/>
          </a:p>
        </p:txBody>
      </p:sp>
      <p:graphicFrame>
        <p:nvGraphicFramePr>
          <p:cNvPr id="6" name="Content Placeholder 5" descr="Clustered column chart showing the values of 3 series for 4 categories"/>
          <p:cNvGraphicFramePr>
            <a:graphicFrameLocks noGrp="1"/>
          </p:cNvGraphicFramePr>
          <p:nvPr>
            <p:ph idx="1"/>
            <p:extLst>
              <p:ext uri="{D42A27DB-BD31-4B8C-83A1-F6EECF244321}">
                <p14:modId xmlns:p14="http://schemas.microsoft.com/office/powerpoint/2010/main" val="21477923"/>
              </p:ext>
            </p:extLst>
          </p:nvPr>
        </p:nvGraphicFramePr>
        <p:xfrm>
          <a:off x="629920" y="1574800"/>
          <a:ext cx="10810240" cy="4693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85734172"/>
      </p:ext>
    </p:extLst>
  </p:cSld>
  <p:clrMapOvr>
    <a:masterClrMapping/>
  </p:clrMapOvr>
  <p:transition spd="slow">
    <p:wheel spokes="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BI</a:t>
            </a:r>
          </a:p>
        </p:txBody>
      </p:sp>
      <p:sp>
        <p:nvSpPr>
          <p:cNvPr id="3" name="Content Placeholder 2"/>
          <p:cNvSpPr>
            <a:spLocks noGrp="1"/>
          </p:cNvSpPr>
          <p:nvPr>
            <p:ph sz="half" idx="1"/>
          </p:nvPr>
        </p:nvSpPr>
        <p:spPr>
          <a:xfrm>
            <a:off x="487680" y="1904999"/>
            <a:ext cx="5750560" cy="4271963"/>
          </a:xfrm>
        </p:spPr>
        <p:txBody>
          <a:bodyPr/>
          <a:lstStyle/>
          <a:p>
            <a:r>
              <a:rPr lang="en-US" dirty="0">
                <a:latin typeface="Times New Roman"/>
                <a:cs typeface="Times New Roman"/>
              </a:rPr>
              <a:t>Power</a:t>
            </a:r>
            <a:r>
              <a:rPr lang="en-US" spc="-15" dirty="0">
                <a:latin typeface="Times New Roman"/>
                <a:cs typeface="Times New Roman"/>
              </a:rPr>
              <a:t> </a:t>
            </a:r>
            <a:r>
              <a:rPr lang="en-US" dirty="0">
                <a:latin typeface="Times New Roman"/>
                <a:cs typeface="Times New Roman"/>
              </a:rPr>
              <a:t>BI</a:t>
            </a:r>
            <a:r>
              <a:rPr lang="en-US" spc="-50" dirty="0">
                <a:latin typeface="Times New Roman"/>
                <a:cs typeface="Times New Roman"/>
              </a:rPr>
              <a:t> </a:t>
            </a:r>
            <a:r>
              <a:rPr lang="en-US" dirty="0">
                <a:latin typeface="Times New Roman"/>
                <a:cs typeface="Times New Roman"/>
              </a:rPr>
              <a:t>is</a:t>
            </a:r>
            <a:r>
              <a:rPr lang="en-US" spc="-40" dirty="0">
                <a:latin typeface="Times New Roman"/>
                <a:cs typeface="Times New Roman"/>
              </a:rPr>
              <a:t> </a:t>
            </a:r>
            <a:r>
              <a:rPr lang="en-US" dirty="0">
                <a:latin typeface="Times New Roman"/>
                <a:cs typeface="Times New Roman"/>
              </a:rPr>
              <a:t>a</a:t>
            </a:r>
            <a:r>
              <a:rPr lang="en-US" spc="20" dirty="0">
                <a:latin typeface="Times New Roman"/>
                <a:cs typeface="Times New Roman"/>
              </a:rPr>
              <a:t> </a:t>
            </a:r>
            <a:r>
              <a:rPr lang="en-US" b="1" dirty="0">
                <a:latin typeface="Times New Roman"/>
                <a:cs typeface="Times New Roman"/>
              </a:rPr>
              <a:t>business</a:t>
            </a:r>
            <a:r>
              <a:rPr lang="en-US" b="1" spc="-5" dirty="0">
                <a:latin typeface="Times New Roman"/>
                <a:cs typeface="Times New Roman"/>
              </a:rPr>
              <a:t> </a:t>
            </a:r>
            <a:r>
              <a:rPr lang="en-US" b="1" dirty="0">
                <a:latin typeface="Times New Roman"/>
                <a:cs typeface="Times New Roman"/>
              </a:rPr>
              <a:t>analytics</a:t>
            </a:r>
            <a:r>
              <a:rPr lang="en-US" b="1" spc="-5" dirty="0">
                <a:latin typeface="Times New Roman"/>
                <a:cs typeface="Times New Roman"/>
              </a:rPr>
              <a:t> </a:t>
            </a:r>
            <a:r>
              <a:rPr lang="en-US" b="1" dirty="0">
                <a:latin typeface="Times New Roman"/>
                <a:cs typeface="Times New Roman"/>
              </a:rPr>
              <a:t>and</a:t>
            </a:r>
            <a:r>
              <a:rPr lang="en-US" b="1" spc="-15" dirty="0">
                <a:latin typeface="Times New Roman"/>
                <a:cs typeface="Times New Roman"/>
              </a:rPr>
              <a:t> </a:t>
            </a:r>
            <a:r>
              <a:rPr lang="en-US" b="1" dirty="0">
                <a:latin typeface="Times New Roman"/>
                <a:cs typeface="Times New Roman"/>
              </a:rPr>
              <a:t>data</a:t>
            </a:r>
            <a:r>
              <a:rPr lang="en-US" b="1" spc="-20" dirty="0">
                <a:latin typeface="Times New Roman"/>
                <a:cs typeface="Times New Roman"/>
              </a:rPr>
              <a:t> </a:t>
            </a:r>
            <a:r>
              <a:rPr lang="en-US" b="1" dirty="0">
                <a:latin typeface="Times New Roman"/>
                <a:cs typeface="Times New Roman"/>
              </a:rPr>
              <a:t>visualization</a:t>
            </a:r>
            <a:r>
              <a:rPr lang="en-US" b="1" spc="-45" dirty="0">
                <a:latin typeface="Times New Roman"/>
                <a:cs typeface="Times New Roman"/>
              </a:rPr>
              <a:t> </a:t>
            </a:r>
            <a:r>
              <a:rPr lang="en-US" b="1" dirty="0">
                <a:latin typeface="Times New Roman"/>
                <a:cs typeface="Times New Roman"/>
              </a:rPr>
              <a:t>tool</a:t>
            </a:r>
            <a:r>
              <a:rPr lang="en-US" b="1" spc="5" dirty="0">
                <a:latin typeface="Times New Roman"/>
                <a:cs typeface="Times New Roman"/>
              </a:rPr>
              <a:t> </a:t>
            </a:r>
            <a:r>
              <a:rPr lang="en-US" dirty="0">
                <a:latin typeface="Times New Roman"/>
                <a:cs typeface="Times New Roman"/>
              </a:rPr>
              <a:t>developed</a:t>
            </a:r>
            <a:r>
              <a:rPr lang="en-US" spc="10" dirty="0">
                <a:latin typeface="Times New Roman"/>
                <a:cs typeface="Times New Roman"/>
              </a:rPr>
              <a:t> </a:t>
            </a:r>
            <a:r>
              <a:rPr lang="en-US" dirty="0">
                <a:latin typeface="Times New Roman"/>
                <a:cs typeface="Times New Roman"/>
              </a:rPr>
              <a:t>by</a:t>
            </a:r>
            <a:r>
              <a:rPr lang="en-US" spc="-55" dirty="0">
                <a:latin typeface="Times New Roman"/>
                <a:cs typeface="Times New Roman"/>
              </a:rPr>
              <a:t> </a:t>
            </a:r>
            <a:r>
              <a:rPr lang="en-US" dirty="0">
                <a:latin typeface="Times New Roman"/>
                <a:cs typeface="Times New Roman"/>
              </a:rPr>
              <a:t>Microsoft.</a:t>
            </a:r>
            <a:r>
              <a:rPr lang="en-US" spc="5" dirty="0">
                <a:latin typeface="Times New Roman"/>
                <a:cs typeface="Times New Roman"/>
              </a:rPr>
              <a:t> </a:t>
            </a:r>
            <a:r>
              <a:rPr lang="en-US" dirty="0">
                <a:latin typeface="Times New Roman"/>
                <a:cs typeface="Times New Roman"/>
              </a:rPr>
              <a:t>It</a:t>
            </a:r>
            <a:r>
              <a:rPr lang="en-US" spc="5" dirty="0">
                <a:latin typeface="Times New Roman"/>
                <a:cs typeface="Times New Roman"/>
              </a:rPr>
              <a:t> </a:t>
            </a:r>
            <a:r>
              <a:rPr lang="en-US" spc="-10" dirty="0">
                <a:latin typeface="Times New Roman"/>
                <a:cs typeface="Times New Roman"/>
              </a:rPr>
              <a:t>enables </a:t>
            </a:r>
            <a:r>
              <a:rPr lang="en-US" dirty="0">
                <a:latin typeface="Times New Roman"/>
                <a:cs typeface="Times New Roman"/>
              </a:rPr>
              <a:t>users</a:t>
            </a:r>
            <a:r>
              <a:rPr lang="en-US" spc="-40" dirty="0">
                <a:latin typeface="Times New Roman"/>
                <a:cs typeface="Times New Roman"/>
              </a:rPr>
              <a:t> </a:t>
            </a:r>
            <a:r>
              <a:rPr lang="en-US" dirty="0">
                <a:latin typeface="Times New Roman"/>
                <a:cs typeface="Times New Roman"/>
              </a:rPr>
              <a:t>to</a:t>
            </a:r>
            <a:r>
              <a:rPr lang="en-US" spc="-10" dirty="0">
                <a:latin typeface="Times New Roman"/>
                <a:cs typeface="Times New Roman"/>
              </a:rPr>
              <a:t> </a:t>
            </a:r>
            <a:r>
              <a:rPr lang="en-US" b="1" dirty="0">
                <a:latin typeface="Times New Roman"/>
                <a:cs typeface="Times New Roman"/>
              </a:rPr>
              <a:t>connect</a:t>
            </a:r>
            <a:r>
              <a:rPr lang="en-US" b="1" spc="-10" dirty="0">
                <a:latin typeface="Times New Roman"/>
                <a:cs typeface="Times New Roman"/>
              </a:rPr>
              <a:t> </a:t>
            </a:r>
            <a:r>
              <a:rPr lang="en-US" b="1" dirty="0">
                <a:latin typeface="Times New Roman"/>
                <a:cs typeface="Times New Roman"/>
              </a:rPr>
              <a:t>to</a:t>
            </a:r>
            <a:r>
              <a:rPr lang="en-US" b="1" spc="-20" dirty="0">
                <a:latin typeface="Times New Roman"/>
                <a:cs typeface="Times New Roman"/>
              </a:rPr>
              <a:t> </a:t>
            </a:r>
            <a:r>
              <a:rPr lang="en-US" b="1" dirty="0">
                <a:latin typeface="Times New Roman"/>
                <a:cs typeface="Times New Roman"/>
              </a:rPr>
              <a:t>various</a:t>
            </a:r>
            <a:r>
              <a:rPr lang="en-US" b="1" spc="-5" dirty="0">
                <a:latin typeface="Times New Roman"/>
                <a:cs typeface="Times New Roman"/>
              </a:rPr>
              <a:t> </a:t>
            </a:r>
            <a:r>
              <a:rPr lang="en-US" b="1" dirty="0">
                <a:latin typeface="Times New Roman"/>
                <a:cs typeface="Times New Roman"/>
              </a:rPr>
              <a:t>data</a:t>
            </a:r>
            <a:r>
              <a:rPr lang="en-US" b="1" spc="-20" dirty="0">
                <a:latin typeface="Times New Roman"/>
                <a:cs typeface="Times New Roman"/>
              </a:rPr>
              <a:t> </a:t>
            </a:r>
            <a:r>
              <a:rPr lang="en-US" b="1" dirty="0">
                <a:latin typeface="Times New Roman"/>
                <a:cs typeface="Times New Roman"/>
              </a:rPr>
              <a:t>sources</a:t>
            </a:r>
            <a:r>
              <a:rPr lang="en-US" dirty="0">
                <a:latin typeface="Times New Roman"/>
                <a:cs typeface="Times New Roman"/>
              </a:rPr>
              <a:t>,</a:t>
            </a:r>
            <a:r>
              <a:rPr lang="en-US" spc="5" dirty="0">
                <a:latin typeface="Times New Roman"/>
                <a:cs typeface="Times New Roman"/>
              </a:rPr>
              <a:t> </a:t>
            </a:r>
            <a:r>
              <a:rPr lang="en-US" dirty="0">
                <a:latin typeface="Times New Roman"/>
                <a:cs typeface="Times New Roman"/>
              </a:rPr>
              <a:t>clean</a:t>
            </a:r>
            <a:r>
              <a:rPr lang="en-US" spc="-55" dirty="0">
                <a:latin typeface="Times New Roman"/>
                <a:cs typeface="Times New Roman"/>
              </a:rPr>
              <a:t> </a:t>
            </a:r>
            <a:r>
              <a:rPr lang="en-US" dirty="0">
                <a:latin typeface="Times New Roman"/>
                <a:cs typeface="Times New Roman"/>
              </a:rPr>
              <a:t>and</a:t>
            </a:r>
            <a:r>
              <a:rPr lang="en-US" spc="-15" dirty="0">
                <a:latin typeface="Times New Roman"/>
                <a:cs typeface="Times New Roman"/>
              </a:rPr>
              <a:t> </a:t>
            </a:r>
            <a:r>
              <a:rPr lang="en-US" dirty="0">
                <a:latin typeface="Times New Roman"/>
                <a:cs typeface="Times New Roman"/>
              </a:rPr>
              <a:t>transform</a:t>
            </a:r>
            <a:r>
              <a:rPr lang="en-US" spc="-40" dirty="0">
                <a:latin typeface="Times New Roman"/>
                <a:cs typeface="Times New Roman"/>
              </a:rPr>
              <a:t> </a:t>
            </a:r>
            <a:r>
              <a:rPr lang="en-US" dirty="0">
                <a:latin typeface="Times New Roman"/>
                <a:cs typeface="Times New Roman"/>
              </a:rPr>
              <a:t>data,</a:t>
            </a:r>
            <a:r>
              <a:rPr lang="en-US" spc="-25" dirty="0">
                <a:latin typeface="Times New Roman"/>
                <a:cs typeface="Times New Roman"/>
              </a:rPr>
              <a:t> </a:t>
            </a:r>
            <a:r>
              <a:rPr lang="en-US" dirty="0">
                <a:latin typeface="Times New Roman"/>
                <a:cs typeface="Times New Roman"/>
              </a:rPr>
              <a:t>create</a:t>
            </a:r>
            <a:r>
              <a:rPr lang="en-US" spc="5" dirty="0">
                <a:latin typeface="Times New Roman"/>
                <a:cs typeface="Times New Roman"/>
              </a:rPr>
              <a:t> </a:t>
            </a:r>
            <a:r>
              <a:rPr lang="en-US" b="1" dirty="0">
                <a:latin typeface="Times New Roman"/>
                <a:cs typeface="Times New Roman"/>
              </a:rPr>
              <a:t>interactive</a:t>
            </a:r>
            <a:r>
              <a:rPr lang="en-US" b="1" spc="5" dirty="0">
                <a:latin typeface="Times New Roman"/>
                <a:cs typeface="Times New Roman"/>
              </a:rPr>
              <a:t> </a:t>
            </a:r>
            <a:r>
              <a:rPr lang="en-US" b="1" spc="-10" dirty="0">
                <a:latin typeface="Times New Roman"/>
                <a:cs typeface="Times New Roman"/>
              </a:rPr>
              <a:t>dashboards </a:t>
            </a:r>
            <a:r>
              <a:rPr lang="en-US" b="1" dirty="0">
                <a:latin typeface="Times New Roman"/>
                <a:cs typeface="Times New Roman"/>
              </a:rPr>
              <a:t>and reports</a:t>
            </a:r>
            <a:r>
              <a:rPr lang="en-US" dirty="0">
                <a:latin typeface="Times New Roman"/>
                <a:cs typeface="Times New Roman"/>
              </a:rPr>
              <a:t>,</a:t>
            </a:r>
            <a:r>
              <a:rPr lang="en-US" spc="-15" dirty="0">
                <a:latin typeface="Times New Roman"/>
                <a:cs typeface="Times New Roman"/>
              </a:rPr>
              <a:t> </a:t>
            </a:r>
            <a:r>
              <a:rPr lang="en-US" dirty="0">
                <a:latin typeface="Times New Roman"/>
                <a:cs typeface="Times New Roman"/>
              </a:rPr>
              <a:t>and</a:t>
            </a:r>
            <a:r>
              <a:rPr lang="en-US" spc="-40" dirty="0">
                <a:latin typeface="Times New Roman"/>
                <a:cs typeface="Times New Roman"/>
              </a:rPr>
              <a:t> </a:t>
            </a:r>
            <a:r>
              <a:rPr lang="en-US" dirty="0">
                <a:latin typeface="Times New Roman"/>
                <a:cs typeface="Times New Roman"/>
              </a:rPr>
              <a:t>derive</a:t>
            </a:r>
            <a:r>
              <a:rPr lang="en-US" spc="-15" dirty="0">
                <a:latin typeface="Times New Roman"/>
                <a:cs typeface="Times New Roman"/>
              </a:rPr>
              <a:t> </a:t>
            </a:r>
            <a:r>
              <a:rPr lang="en-US" dirty="0">
                <a:latin typeface="Times New Roman"/>
                <a:cs typeface="Times New Roman"/>
              </a:rPr>
              <a:t>meaningful</a:t>
            </a:r>
            <a:r>
              <a:rPr lang="en-US" spc="-45" dirty="0">
                <a:latin typeface="Times New Roman"/>
                <a:cs typeface="Times New Roman"/>
              </a:rPr>
              <a:t> </a:t>
            </a:r>
            <a:r>
              <a:rPr lang="en-US" spc="-10" dirty="0">
                <a:latin typeface="Times New Roman"/>
                <a:cs typeface="Times New Roman"/>
              </a:rPr>
              <a:t>insights.</a:t>
            </a:r>
            <a:endParaRPr lang="en-US" dirty="0">
              <a:latin typeface="Times New Roman"/>
              <a:cs typeface="Times New Roman"/>
            </a:endParaRPr>
          </a:p>
          <a:p>
            <a:endParaRPr lang="en-US" dirty="0"/>
          </a:p>
        </p:txBody>
      </p:sp>
      <p:pic>
        <p:nvPicPr>
          <p:cNvPr id="15" name="Content Placeholder 14">
            <a:extLst>
              <a:ext uri="{FF2B5EF4-FFF2-40B4-BE49-F238E27FC236}">
                <a16:creationId xmlns:a16="http://schemas.microsoft.com/office/drawing/2014/main" id="{C334CF47-656F-6790-9D2A-2865DC866494}"/>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089525" y="2924374"/>
            <a:ext cx="4184650" cy="2353865"/>
          </a:xfrm>
        </p:spPr>
      </p:pic>
    </p:spTree>
    <p:extLst>
      <p:ext uri="{BB962C8B-B14F-4D97-AF65-F5344CB8AC3E}">
        <p14:creationId xmlns:p14="http://schemas.microsoft.com/office/powerpoint/2010/main" val="321317825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88160"/>
            <a:ext cx="8686800" cy="1168400"/>
          </a:xfrm>
        </p:spPr>
        <p:txBody>
          <a:bodyPr/>
          <a:lstStyle/>
          <a:p>
            <a:r>
              <a:rPr lang="en-US" dirty="0"/>
              <a:t>Workflow of Power Bi</a:t>
            </a:r>
          </a:p>
        </p:txBody>
      </p:sp>
      <p:sp>
        <p:nvSpPr>
          <p:cNvPr id="3" name="Text Placeholder 2"/>
          <p:cNvSpPr>
            <a:spLocks noGrp="1"/>
          </p:cNvSpPr>
          <p:nvPr>
            <p:ph type="body" idx="1"/>
          </p:nvPr>
        </p:nvSpPr>
        <p:spPr>
          <a:xfrm>
            <a:off x="690880" y="3429000"/>
            <a:ext cx="9062719" cy="2743200"/>
          </a:xfrm>
        </p:spPr>
        <p:txBody>
          <a:bodyPr/>
          <a:lstStyle/>
          <a:p>
            <a:pPr marL="469265" indent="-227965">
              <a:lnSpc>
                <a:spcPct val="100000"/>
              </a:lnSpc>
              <a:spcBef>
                <a:spcPts val="1130"/>
              </a:spcBef>
              <a:buAutoNum type="arabicPeriod"/>
              <a:tabLst>
                <a:tab pos="469265" algn="l"/>
              </a:tabLst>
            </a:pPr>
            <a:r>
              <a:rPr lang="en-IN" dirty="0">
                <a:latin typeface="Times New Roman"/>
                <a:cs typeface="Times New Roman"/>
              </a:rPr>
              <a:t>Import</a:t>
            </a:r>
            <a:r>
              <a:rPr lang="en-IN" spc="-5" dirty="0">
                <a:latin typeface="Times New Roman"/>
                <a:cs typeface="Times New Roman"/>
              </a:rPr>
              <a:t> </a:t>
            </a:r>
            <a:r>
              <a:rPr lang="en-IN" dirty="0">
                <a:latin typeface="Times New Roman"/>
                <a:cs typeface="Times New Roman"/>
              </a:rPr>
              <a:t>Data</a:t>
            </a:r>
            <a:r>
              <a:rPr lang="en-IN" spc="5" dirty="0">
                <a:latin typeface="Times New Roman"/>
                <a:cs typeface="Times New Roman"/>
              </a:rPr>
              <a:t> </a:t>
            </a:r>
            <a:r>
              <a:rPr lang="en-IN" dirty="0">
                <a:latin typeface="Times New Roman"/>
                <a:cs typeface="Times New Roman"/>
              </a:rPr>
              <a:t>→</a:t>
            </a:r>
            <a:r>
              <a:rPr lang="en-IN" spc="-40" dirty="0">
                <a:latin typeface="Times New Roman"/>
                <a:cs typeface="Times New Roman"/>
              </a:rPr>
              <a:t> </a:t>
            </a:r>
            <a:r>
              <a:rPr lang="en-IN" dirty="0">
                <a:latin typeface="Times New Roman"/>
                <a:cs typeface="Times New Roman"/>
              </a:rPr>
              <a:t>From</a:t>
            </a:r>
            <a:r>
              <a:rPr lang="en-IN" spc="-50" dirty="0">
                <a:latin typeface="Times New Roman"/>
                <a:cs typeface="Times New Roman"/>
              </a:rPr>
              <a:t> </a:t>
            </a:r>
            <a:r>
              <a:rPr lang="en-IN" dirty="0">
                <a:latin typeface="Times New Roman"/>
                <a:cs typeface="Times New Roman"/>
              </a:rPr>
              <a:t>Excel,</a:t>
            </a:r>
            <a:r>
              <a:rPr lang="en-IN" spc="-5" dirty="0">
                <a:latin typeface="Times New Roman"/>
                <a:cs typeface="Times New Roman"/>
              </a:rPr>
              <a:t> </a:t>
            </a:r>
            <a:r>
              <a:rPr lang="en-IN" dirty="0">
                <a:latin typeface="Times New Roman"/>
                <a:cs typeface="Times New Roman"/>
              </a:rPr>
              <a:t>SQL,</a:t>
            </a:r>
            <a:r>
              <a:rPr lang="en-IN" spc="-5" dirty="0">
                <a:latin typeface="Times New Roman"/>
                <a:cs typeface="Times New Roman"/>
              </a:rPr>
              <a:t> </a:t>
            </a:r>
            <a:r>
              <a:rPr lang="en-IN" dirty="0">
                <a:latin typeface="Times New Roman"/>
                <a:cs typeface="Times New Roman"/>
              </a:rPr>
              <a:t>Web,</a:t>
            </a:r>
            <a:r>
              <a:rPr lang="en-IN" spc="-35" dirty="0">
                <a:latin typeface="Times New Roman"/>
                <a:cs typeface="Times New Roman"/>
              </a:rPr>
              <a:t> </a:t>
            </a:r>
            <a:r>
              <a:rPr lang="en-IN" spc="-20" dirty="0">
                <a:latin typeface="Times New Roman"/>
                <a:cs typeface="Times New Roman"/>
              </a:rPr>
              <a:t>etc.</a:t>
            </a:r>
            <a:endParaRPr lang="en-IN" dirty="0">
              <a:latin typeface="Times New Roman"/>
              <a:cs typeface="Times New Roman"/>
            </a:endParaRPr>
          </a:p>
          <a:p>
            <a:pPr marL="469265" indent="-227965">
              <a:lnSpc>
                <a:spcPct val="100000"/>
              </a:lnSpc>
              <a:spcBef>
                <a:spcPts val="1130"/>
              </a:spcBef>
              <a:buAutoNum type="arabicPeriod"/>
              <a:tabLst>
                <a:tab pos="469265" algn="l"/>
              </a:tabLst>
            </a:pPr>
            <a:r>
              <a:rPr lang="en-IN" dirty="0">
                <a:latin typeface="Times New Roman"/>
                <a:cs typeface="Times New Roman"/>
              </a:rPr>
              <a:t>Transform</a:t>
            </a:r>
            <a:r>
              <a:rPr lang="en-IN" spc="-45" dirty="0">
                <a:latin typeface="Times New Roman"/>
                <a:cs typeface="Times New Roman"/>
              </a:rPr>
              <a:t> </a:t>
            </a:r>
            <a:r>
              <a:rPr lang="en-IN" dirty="0">
                <a:latin typeface="Times New Roman"/>
                <a:cs typeface="Times New Roman"/>
              </a:rPr>
              <a:t>Data</a:t>
            </a:r>
            <a:r>
              <a:rPr lang="en-IN" spc="-15" dirty="0">
                <a:latin typeface="Times New Roman"/>
                <a:cs typeface="Times New Roman"/>
              </a:rPr>
              <a:t> </a:t>
            </a:r>
            <a:r>
              <a:rPr lang="en-IN" dirty="0">
                <a:latin typeface="Times New Roman"/>
                <a:cs typeface="Times New Roman"/>
              </a:rPr>
              <a:t>→ Using</a:t>
            </a:r>
            <a:r>
              <a:rPr lang="en-IN" spc="-25" dirty="0">
                <a:latin typeface="Times New Roman"/>
                <a:cs typeface="Times New Roman"/>
              </a:rPr>
              <a:t> </a:t>
            </a:r>
            <a:r>
              <a:rPr lang="en-IN" dirty="0">
                <a:latin typeface="Times New Roman"/>
                <a:cs typeface="Times New Roman"/>
              </a:rPr>
              <a:t>Power</a:t>
            </a:r>
            <a:r>
              <a:rPr lang="en-IN" spc="-10" dirty="0">
                <a:latin typeface="Times New Roman"/>
                <a:cs typeface="Times New Roman"/>
              </a:rPr>
              <a:t> </a:t>
            </a:r>
            <a:r>
              <a:rPr lang="en-IN" dirty="0">
                <a:latin typeface="Times New Roman"/>
                <a:cs typeface="Times New Roman"/>
              </a:rPr>
              <a:t>Query</a:t>
            </a:r>
            <a:r>
              <a:rPr lang="en-IN" spc="-20" dirty="0">
                <a:latin typeface="Times New Roman"/>
                <a:cs typeface="Times New Roman"/>
              </a:rPr>
              <a:t> </a:t>
            </a:r>
            <a:r>
              <a:rPr lang="en-IN" dirty="0">
                <a:latin typeface="Times New Roman"/>
                <a:cs typeface="Times New Roman"/>
              </a:rPr>
              <a:t>(clean,</a:t>
            </a:r>
            <a:r>
              <a:rPr lang="en-IN" spc="-25" dirty="0">
                <a:latin typeface="Times New Roman"/>
                <a:cs typeface="Times New Roman"/>
              </a:rPr>
              <a:t> </a:t>
            </a:r>
            <a:r>
              <a:rPr lang="en-IN" dirty="0">
                <a:latin typeface="Times New Roman"/>
                <a:cs typeface="Times New Roman"/>
              </a:rPr>
              <a:t>merge, </a:t>
            </a:r>
            <a:r>
              <a:rPr lang="en-IN" spc="-10" dirty="0">
                <a:latin typeface="Times New Roman"/>
                <a:cs typeface="Times New Roman"/>
              </a:rPr>
              <a:t>shape).</a:t>
            </a:r>
            <a:endParaRPr lang="en-IN" dirty="0">
              <a:latin typeface="Times New Roman"/>
              <a:cs typeface="Times New Roman"/>
            </a:endParaRPr>
          </a:p>
          <a:p>
            <a:pPr marL="469265" indent="-227965">
              <a:lnSpc>
                <a:spcPct val="100000"/>
              </a:lnSpc>
              <a:spcBef>
                <a:spcPts val="1160"/>
              </a:spcBef>
              <a:buAutoNum type="arabicPeriod"/>
              <a:tabLst>
                <a:tab pos="469265" algn="l"/>
              </a:tabLst>
            </a:pPr>
            <a:r>
              <a:rPr lang="en-IN" dirty="0">
                <a:latin typeface="Times New Roman"/>
                <a:cs typeface="Times New Roman"/>
              </a:rPr>
              <a:t>Model</a:t>
            </a:r>
            <a:r>
              <a:rPr lang="en-IN" spc="-15" dirty="0">
                <a:latin typeface="Times New Roman"/>
                <a:cs typeface="Times New Roman"/>
              </a:rPr>
              <a:t> </a:t>
            </a:r>
            <a:r>
              <a:rPr lang="en-IN" dirty="0">
                <a:latin typeface="Times New Roman"/>
                <a:cs typeface="Times New Roman"/>
              </a:rPr>
              <a:t>Data</a:t>
            </a:r>
            <a:r>
              <a:rPr lang="en-IN" spc="-5" dirty="0">
                <a:latin typeface="Times New Roman"/>
                <a:cs typeface="Times New Roman"/>
              </a:rPr>
              <a:t> </a:t>
            </a:r>
            <a:r>
              <a:rPr lang="en-IN" dirty="0">
                <a:latin typeface="Times New Roman"/>
                <a:cs typeface="Times New Roman"/>
              </a:rPr>
              <a:t>→</a:t>
            </a:r>
            <a:r>
              <a:rPr lang="en-IN" spc="-20" dirty="0">
                <a:latin typeface="Times New Roman"/>
                <a:cs typeface="Times New Roman"/>
              </a:rPr>
              <a:t> </a:t>
            </a:r>
            <a:r>
              <a:rPr lang="en-IN" dirty="0">
                <a:latin typeface="Times New Roman"/>
                <a:cs typeface="Times New Roman"/>
              </a:rPr>
              <a:t>Create</a:t>
            </a:r>
            <a:r>
              <a:rPr lang="en-IN" spc="-15" dirty="0">
                <a:latin typeface="Times New Roman"/>
                <a:cs typeface="Times New Roman"/>
              </a:rPr>
              <a:t> </a:t>
            </a:r>
            <a:r>
              <a:rPr lang="en-IN" spc="-10" dirty="0">
                <a:latin typeface="Times New Roman"/>
                <a:cs typeface="Times New Roman"/>
              </a:rPr>
              <a:t>relationships,</a:t>
            </a:r>
            <a:r>
              <a:rPr lang="en-IN" spc="20" dirty="0">
                <a:latin typeface="Times New Roman"/>
                <a:cs typeface="Times New Roman"/>
              </a:rPr>
              <a:t> </a:t>
            </a:r>
            <a:r>
              <a:rPr lang="en-IN" dirty="0">
                <a:latin typeface="Times New Roman"/>
                <a:cs typeface="Times New Roman"/>
              </a:rPr>
              <a:t>DAX </a:t>
            </a:r>
            <a:r>
              <a:rPr lang="en-IN" spc="-10" dirty="0">
                <a:latin typeface="Times New Roman"/>
                <a:cs typeface="Times New Roman"/>
              </a:rPr>
              <a:t>formulas.</a:t>
            </a:r>
            <a:endParaRPr lang="en-IN" dirty="0">
              <a:latin typeface="Times New Roman"/>
              <a:cs typeface="Times New Roman"/>
            </a:endParaRPr>
          </a:p>
          <a:p>
            <a:pPr marL="469265" indent="-227965">
              <a:lnSpc>
                <a:spcPct val="100000"/>
              </a:lnSpc>
              <a:spcBef>
                <a:spcPts val="1135"/>
              </a:spcBef>
              <a:buAutoNum type="arabicPeriod"/>
              <a:tabLst>
                <a:tab pos="469265" algn="l"/>
              </a:tabLst>
            </a:pPr>
            <a:r>
              <a:rPr lang="en-IN" dirty="0">
                <a:latin typeface="Times New Roman"/>
                <a:cs typeface="Times New Roman"/>
              </a:rPr>
              <a:t>Visualize</a:t>
            </a:r>
            <a:r>
              <a:rPr lang="en-IN" spc="-10" dirty="0">
                <a:latin typeface="Times New Roman"/>
                <a:cs typeface="Times New Roman"/>
              </a:rPr>
              <a:t> </a:t>
            </a:r>
            <a:r>
              <a:rPr lang="en-IN" dirty="0">
                <a:latin typeface="Times New Roman"/>
                <a:cs typeface="Times New Roman"/>
              </a:rPr>
              <a:t>Data</a:t>
            </a:r>
            <a:r>
              <a:rPr lang="en-IN" spc="-30" dirty="0">
                <a:latin typeface="Times New Roman"/>
                <a:cs typeface="Times New Roman"/>
              </a:rPr>
              <a:t> </a:t>
            </a:r>
            <a:r>
              <a:rPr lang="en-IN" dirty="0">
                <a:latin typeface="Times New Roman"/>
                <a:cs typeface="Times New Roman"/>
              </a:rPr>
              <a:t>→</a:t>
            </a:r>
            <a:r>
              <a:rPr lang="en-IN" spc="-45" dirty="0">
                <a:latin typeface="Times New Roman"/>
                <a:cs typeface="Times New Roman"/>
              </a:rPr>
              <a:t> </a:t>
            </a:r>
            <a:r>
              <a:rPr lang="en-IN" dirty="0">
                <a:latin typeface="Times New Roman"/>
                <a:cs typeface="Times New Roman"/>
              </a:rPr>
              <a:t>Charts,</a:t>
            </a:r>
            <a:r>
              <a:rPr lang="en-IN" spc="-10" dirty="0">
                <a:latin typeface="Times New Roman"/>
                <a:cs typeface="Times New Roman"/>
              </a:rPr>
              <a:t> </a:t>
            </a:r>
            <a:r>
              <a:rPr lang="en-IN" dirty="0">
                <a:latin typeface="Times New Roman"/>
                <a:cs typeface="Times New Roman"/>
              </a:rPr>
              <a:t>cards,</a:t>
            </a:r>
            <a:r>
              <a:rPr lang="en-IN" spc="-10" dirty="0">
                <a:latin typeface="Times New Roman"/>
                <a:cs typeface="Times New Roman"/>
              </a:rPr>
              <a:t> </a:t>
            </a:r>
            <a:r>
              <a:rPr lang="en-IN" dirty="0">
                <a:latin typeface="Times New Roman"/>
                <a:cs typeface="Times New Roman"/>
              </a:rPr>
              <a:t>maps,</a:t>
            </a:r>
            <a:r>
              <a:rPr lang="en-IN" spc="-10" dirty="0">
                <a:latin typeface="Times New Roman"/>
                <a:cs typeface="Times New Roman"/>
              </a:rPr>
              <a:t> </a:t>
            </a:r>
            <a:r>
              <a:rPr lang="en-IN" dirty="0">
                <a:latin typeface="Times New Roman"/>
                <a:cs typeface="Times New Roman"/>
              </a:rPr>
              <a:t>filters,</a:t>
            </a:r>
            <a:r>
              <a:rPr lang="en-IN" spc="-10" dirty="0">
                <a:latin typeface="Times New Roman"/>
                <a:cs typeface="Times New Roman"/>
              </a:rPr>
              <a:t> slicers.</a:t>
            </a:r>
            <a:endParaRPr lang="en-IN" dirty="0">
              <a:latin typeface="Times New Roman"/>
              <a:cs typeface="Times New Roman"/>
            </a:endParaRPr>
          </a:p>
          <a:p>
            <a:pPr marL="469265" indent="-227965">
              <a:lnSpc>
                <a:spcPct val="100000"/>
              </a:lnSpc>
              <a:spcBef>
                <a:spcPts val="1125"/>
              </a:spcBef>
              <a:buAutoNum type="arabicPeriod"/>
              <a:tabLst>
                <a:tab pos="469265" algn="l"/>
              </a:tabLst>
            </a:pPr>
            <a:r>
              <a:rPr lang="en-IN" dirty="0">
                <a:latin typeface="Times New Roman"/>
                <a:cs typeface="Times New Roman"/>
              </a:rPr>
              <a:t>Publish</a:t>
            </a:r>
            <a:r>
              <a:rPr lang="en-IN" spc="-20" dirty="0">
                <a:latin typeface="Times New Roman"/>
                <a:cs typeface="Times New Roman"/>
              </a:rPr>
              <a:t> </a:t>
            </a:r>
            <a:r>
              <a:rPr lang="en-IN" dirty="0">
                <a:latin typeface="Times New Roman"/>
                <a:cs typeface="Times New Roman"/>
              </a:rPr>
              <a:t>&amp; Share</a:t>
            </a:r>
            <a:r>
              <a:rPr lang="en-IN" spc="-10" dirty="0">
                <a:latin typeface="Times New Roman"/>
                <a:cs typeface="Times New Roman"/>
              </a:rPr>
              <a:t> </a:t>
            </a:r>
            <a:r>
              <a:rPr lang="en-IN" dirty="0">
                <a:latin typeface="Times New Roman"/>
                <a:cs typeface="Times New Roman"/>
              </a:rPr>
              <a:t>→</a:t>
            </a:r>
            <a:r>
              <a:rPr lang="en-IN" spc="5" dirty="0">
                <a:latin typeface="Times New Roman"/>
                <a:cs typeface="Times New Roman"/>
              </a:rPr>
              <a:t> </a:t>
            </a:r>
            <a:r>
              <a:rPr lang="en-IN" dirty="0">
                <a:latin typeface="Times New Roman"/>
                <a:cs typeface="Times New Roman"/>
              </a:rPr>
              <a:t>On</a:t>
            </a:r>
            <a:r>
              <a:rPr lang="en-IN" spc="-50" dirty="0">
                <a:latin typeface="Times New Roman"/>
                <a:cs typeface="Times New Roman"/>
              </a:rPr>
              <a:t> </a:t>
            </a:r>
            <a:r>
              <a:rPr lang="en-IN" dirty="0">
                <a:latin typeface="Times New Roman"/>
                <a:cs typeface="Times New Roman"/>
              </a:rPr>
              <a:t>Power</a:t>
            </a:r>
            <a:r>
              <a:rPr lang="en-IN" spc="-10" dirty="0">
                <a:latin typeface="Times New Roman"/>
                <a:cs typeface="Times New Roman"/>
              </a:rPr>
              <a:t> </a:t>
            </a:r>
            <a:r>
              <a:rPr lang="en-IN" dirty="0">
                <a:latin typeface="Times New Roman"/>
                <a:cs typeface="Times New Roman"/>
              </a:rPr>
              <a:t>BI</a:t>
            </a:r>
            <a:r>
              <a:rPr lang="en-IN" spc="-45" dirty="0">
                <a:latin typeface="Times New Roman"/>
                <a:cs typeface="Times New Roman"/>
              </a:rPr>
              <a:t> </a:t>
            </a:r>
            <a:r>
              <a:rPr lang="en-IN" dirty="0">
                <a:latin typeface="Times New Roman"/>
                <a:cs typeface="Times New Roman"/>
              </a:rPr>
              <a:t>Service,</a:t>
            </a:r>
            <a:r>
              <a:rPr lang="en-IN" spc="10" dirty="0">
                <a:latin typeface="Times New Roman"/>
                <a:cs typeface="Times New Roman"/>
              </a:rPr>
              <a:t> </a:t>
            </a:r>
            <a:r>
              <a:rPr lang="en-IN" dirty="0">
                <a:latin typeface="Times New Roman"/>
                <a:cs typeface="Times New Roman"/>
              </a:rPr>
              <a:t>with</a:t>
            </a:r>
            <a:r>
              <a:rPr lang="en-IN" spc="-50" dirty="0">
                <a:latin typeface="Times New Roman"/>
                <a:cs typeface="Times New Roman"/>
              </a:rPr>
              <a:t> </a:t>
            </a:r>
            <a:r>
              <a:rPr lang="en-IN" dirty="0">
                <a:latin typeface="Times New Roman"/>
                <a:cs typeface="Times New Roman"/>
              </a:rPr>
              <a:t>access</a:t>
            </a:r>
            <a:r>
              <a:rPr lang="en-IN" spc="-35" dirty="0">
                <a:latin typeface="Times New Roman"/>
                <a:cs typeface="Times New Roman"/>
              </a:rPr>
              <a:t> </a:t>
            </a:r>
            <a:r>
              <a:rPr lang="en-IN" spc="-10" dirty="0">
                <a:latin typeface="Times New Roman"/>
                <a:cs typeface="Times New Roman"/>
              </a:rPr>
              <a:t>control.</a:t>
            </a:r>
            <a:endParaRPr lang="en-IN" dirty="0">
              <a:latin typeface="Times New Roman"/>
              <a:cs typeface="Times New Roman"/>
            </a:endParaRPr>
          </a:p>
          <a:p>
            <a:endParaRPr lang="en-US" dirty="0"/>
          </a:p>
        </p:txBody>
      </p:sp>
    </p:spTree>
    <p:extLst>
      <p:ext uri="{BB962C8B-B14F-4D97-AF65-F5344CB8AC3E}">
        <p14:creationId xmlns:p14="http://schemas.microsoft.com/office/powerpoint/2010/main" val="28117007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0D9D-161B-8DCB-AF2B-4CC13EF6E4E6}"/>
              </a:ext>
            </a:extLst>
          </p:cNvPr>
          <p:cNvSpPr>
            <a:spLocks noGrp="1"/>
          </p:cNvSpPr>
          <p:nvPr>
            <p:ph type="title"/>
          </p:nvPr>
        </p:nvSpPr>
        <p:spPr>
          <a:xfrm>
            <a:off x="1066800" y="457518"/>
            <a:ext cx="10058400" cy="578802"/>
          </a:xfrm>
        </p:spPr>
        <p:txBody>
          <a:bodyPr>
            <a:normAutofit fontScale="90000"/>
          </a:bodyPr>
          <a:lstStyle/>
          <a:p>
            <a:endParaRPr lang="en-IN" dirty="0"/>
          </a:p>
        </p:txBody>
      </p:sp>
      <p:pic>
        <p:nvPicPr>
          <p:cNvPr id="7" name="Content Placeholder 6">
            <a:extLst>
              <a:ext uri="{FF2B5EF4-FFF2-40B4-BE49-F238E27FC236}">
                <a16:creationId xmlns:a16="http://schemas.microsoft.com/office/drawing/2014/main" id="{071A9510-438F-1C69-672E-1E1CCAE98F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837" y="1315616"/>
            <a:ext cx="10487607" cy="5084866"/>
          </a:xfrm>
        </p:spPr>
      </p:pic>
    </p:spTree>
    <p:extLst>
      <p:ext uri="{BB962C8B-B14F-4D97-AF65-F5344CB8AC3E}">
        <p14:creationId xmlns:p14="http://schemas.microsoft.com/office/powerpoint/2010/main" val="366712579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481" y="1239520"/>
            <a:ext cx="5273040" cy="1219200"/>
          </a:xfrm>
        </p:spPr>
        <p:txBody>
          <a:bodyPr>
            <a:normAutofit/>
          </a:bodyPr>
          <a:lstStyle/>
          <a:p>
            <a:pPr algn="ctr"/>
            <a:r>
              <a:rPr lang="en-US" sz="3200" b="1" dirty="0"/>
              <a:t>TABLEAU</a:t>
            </a:r>
          </a:p>
        </p:txBody>
      </p:sp>
      <p:pic>
        <p:nvPicPr>
          <p:cNvPr id="6" name="Content Placeholder 5">
            <a:extLst>
              <a:ext uri="{FF2B5EF4-FFF2-40B4-BE49-F238E27FC236}">
                <a16:creationId xmlns:a16="http://schemas.microsoft.com/office/drawing/2014/main" id="{60037A16-7017-3334-47FA-47B9BBF38E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4481" y="1172369"/>
            <a:ext cx="4513262" cy="4513262"/>
          </a:xfrm>
        </p:spPr>
      </p:pic>
      <p:sp>
        <p:nvSpPr>
          <p:cNvPr id="4" name="Text Placeholder 3"/>
          <p:cNvSpPr>
            <a:spLocks noGrp="1"/>
          </p:cNvSpPr>
          <p:nvPr>
            <p:ph type="body" sz="half" idx="2"/>
          </p:nvPr>
        </p:nvSpPr>
        <p:spPr>
          <a:xfrm>
            <a:off x="416560" y="2641600"/>
            <a:ext cx="6228079" cy="2479040"/>
          </a:xfrm>
        </p:spPr>
        <p:txBody>
          <a:bodyPr/>
          <a:lstStyle/>
          <a:p>
            <a:r>
              <a:rPr lang="en-US" sz="2000" b="1" dirty="0">
                <a:latin typeface="Times New Roman"/>
                <a:cs typeface="Times New Roman"/>
              </a:rPr>
              <a:t>A</a:t>
            </a:r>
            <a:r>
              <a:rPr lang="en-US" sz="2000" b="1" spc="-25" dirty="0">
                <a:latin typeface="Times New Roman"/>
                <a:cs typeface="Times New Roman"/>
              </a:rPr>
              <a:t> </a:t>
            </a:r>
            <a:r>
              <a:rPr lang="en-US" sz="2000" b="1" spc="-10" dirty="0">
                <a:latin typeface="Times New Roman"/>
                <a:cs typeface="Times New Roman"/>
              </a:rPr>
              <a:t>Tableau Dashboard </a:t>
            </a:r>
            <a:r>
              <a:rPr lang="en-US" sz="2000" b="1" dirty="0">
                <a:latin typeface="Times New Roman"/>
                <a:cs typeface="Times New Roman"/>
              </a:rPr>
              <a:t>is</a:t>
            </a:r>
            <a:r>
              <a:rPr lang="en-US" sz="2000" b="1" spc="-5" dirty="0">
                <a:latin typeface="Times New Roman"/>
                <a:cs typeface="Times New Roman"/>
              </a:rPr>
              <a:t> </a:t>
            </a:r>
            <a:r>
              <a:rPr lang="en-US" sz="2000" b="1" dirty="0">
                <a:latin typeface="Times New Roman"/>
                <a:cs typeface="Times New Roman"/>
              </a:rPr>
              <a:t>a</a:t>
            </a:r>
            <a:r>
              <a:rPr lang="en-US" sz="2000" b="1" spc="10" dirty="0">
                <a:latin typeface="Times New Roman"/>
                <a:cs typeface="Times New Roman"/>
              </a:rPr>
              <a:t> </a:t>
            </a:r>
            <a:r>
              <a:rPr lang="en-US" sz="2000" b="1" spc="-10" dirty="0">
                <a:latin typeface="Times New Roman"/>
                <a:cs typeface="Times New Roman"/>
              </a:rPr>
              <a:t>visual </a:t>
            </a:r>
            <a:r>
              <a:rPr lang="en-US" sz="2000" b="1" dirty="0">
                <a:latin typeface="Times New Roman"/>
                <a:cs typeface="Times New Roman"/>
              </a:rPr>
              <a:t>display</a:t>
            </a:r>
            <a:r>
              <a:rPr lang="en-US" sz="2000" b="1" spc="-40" dirty="0">
                <a:latin typeface="Times New Roman"/>
                <a:cs typeface="Times New Roman"/>
              </a:rPr>
              <a:t> </a:t>
            </a:r>
            <a:r>
              <a:rPr lang="en-US" sz="2000" b="1" dirty="0">
                <a:latin typeface="Times New Roman"/>
                <a:cs typeface="Times New Roman"/>
              </a:rPr>
              <a:t>of</a:t>
            </a:r>
            <a:r>
              <a:rPr lang="en-US" sz="2000" b="1" spc="-25" dirty="0">
                <a:latin typeface="Times New Roman"/>
                <a:cs typeface="Times New Roman"/>
              </a:rPr>
              <a:t> </a:t>
            </a:r>
            <a:r>
              <a:rPr lang="en-US" sz="2000" b="1" dirty="0">
                <a:latin typeface="Times New Roman"/>
                <a:cs typeface="Times New Roman"/>
              </a:rPr>
              <a:t>key</a:t>
            </a:r>
            <a:r>
              <a:rPr lang="en-US" sz="2000" b="1" spc="-10" dirty="0">
                <a:latin typeface="Times New Roman"/>
                <a:cs typeface="Times New Roman"/>
              </a:rPr>
              <a:t> metrics </a:t>
            </a:r>
            <a:r>
              <a:rPr lang="en-US" sz="2000" b="1" dirty="0">
                <a:latin typeface="Times New Roman"/>
                <a:cs typeface="Times New Roman"/>
              </a:rPr>
              <a:t>and</a:t>
            </a:r>
            <a:r>
              <a:rPr lang="en-US" sz="2000" b="1" spc="-10" dirty="0">
                <a:latin typeface="Times New Roman"/>
                <a:cs typeface="Times New Roman"/>
              </a:rPr>
              <a:t> </a:t>
            </a:r>
            <a:r>
              <a:rPr lang="en-US" sz="2000" b="1" dirty="0">
                <a:latin typeface="Times New Roman"/>
                <a:cs typeface="Times New Roman"/>
              </a:rPr>
              <a:t>data</a:t>
            </a:r>
            <a:r>
              <a:rPr lang="en-US" sz="2000" b="1" spc="-25" dirty="0">
                <a:latin typeface="Times New Roman"/>
                <a:cs typeface="Times New Roman"/>
              </a:rPr>
              <a:t> </a:t>
            </a:r>
            <a:r>
              <a:rPr lang="en-US" sz="2000" b="1" dirty="0">
                <a:latin typeface="Times New Roman"/>
                <a:cs typeface="Times New Roman"/>
              </a:rPr>
              <a:t>insights</a:t>
            </a:r>
            <a:r>
              <a:rPr lang="en-US" sz="2000" b="1" spc="-5" dirty="0">
                <a:latin typeface="Times New Roman"/>
                <a:cs typeface="Times New Roman"/>
              </a:rPr>
              <a:t> </a:t>
            </a:r>
            <a:r>
              <a:rPr lang="en-US" sz="2000" b="1" dirty="0">
                <a:latin typeface="Times New Roman"/>
                <a:cs typeface="Times New Roman"/>
              </a:rPr>
              <a:t>combined</a:t>
            </a:r>
            <a:r>
              <a:rPr lang="en-US" sz="2000" b="1" spc="-10" dirty="0">
                <a:latin typeface="Times New Roman"/>
                <a:cs typeface="Times New Roman"/>
              </a:rPr>
              <a:t> </a:t>
            </a:r>
            <a:r>
              <a:rPr lang="en-US" sz="2000" b="1" dirty="0">
                <a:latin typeface="Times New Roman"/>
                <a:cs typeface="Times New Roman"/>
              </a:rPr>
              <a:t>in</a:t>
            </a:r>
            <a:r>
              <a:rPr lang="en-US" sz="2000" b="1" spc="-10" dirty="0">
                <a:latin typeface="Times New Roman"/>
                <a:cs typeface="Times New Roman"/>
              </a:rPr>
              <a:t> </a:t>
            </a:r>
            <a:r>
              <a:rPr lang="en-US" sz="2000" b="1" dirty="0">
                <a:latin typeface="Times New Roman"/>
                <a:cs typeface="Times New Roman"/>
              </a:rPr>
              <a:t>a</a:t>
            </a:r>
            <a:r>
              <a:rPr lang="en-US" sz="2000" b="1" spc="-25" dirty="0">
                <a:latin typeface="Times New Roman"/>
                <a:cs typeface="Times New Roman"/>
              </a:rPr>
              <a:t> </a:t>
            </a:r>
            <a:r>
              <a:rPr lang="en-US" sz="2000" b="1" dirty="0">
                <a:latin typeface="Times New Roman"/>
                <a:cs typeface="Times New Roman"/>
              </a:rPr>
              <a:t>single</a:t>
            </a:r>
            <a:r>
              <a:rPr lang="en-US" sz="2000" b="1" spc="-25" dirty="0">
                <a:latin typeface="Times New Roman"/>
                <a:cs typeface="Times New Roman"/>
              </a:rPr>
              <a:t> </a:t>
            </a:r>
            <a:r>
              <a:rPr lang="en-US" sz="2000" b="1" dirty="0">
                <a:latin typeface="Times New Roman"/>
                <a:cs typeface="Times New Roman"/>
              </a:rPr>
              <a:t>screen.</a:t>
            </a:r>
            <a:r>
              <a:rPr lang="en-US" sz="2000" b="1" spc="20" dirty="0">
                <a:latin typeface="Times New Roman"/>
                <a:cs typeface="Times New Roman"/>
              </a:rPr>
              <a:t> </a:t>
            </a:r>
            <a:r>
              <a:rPr lang="en-US" sz="2000" b="1" dirty="0">
                <a:latin typeface="Times New Roman"/>
                <a:cs typeface="Times New Roman"/>
              </a:rPr>
              <a:t>It</a:t>
            </a:r>
            <a:r>
              <a:rPr lang="en-US" sz="2000" b="1" spc="-5" dirty="0">
                <a:latin typeface="Times New Roman"/>
                <a:cs typeface="Times New Roman"/>
              </a:rPr>
              <a:t> </a:t>
            </a:r>
            <a:r>
              <a:rPr lang="en-US" sz="2000" b="1" spc="-10" dirty="0">
                <a:latin typeface="Times New Roman"/>
                <a:cs typeface="Times New Roman"/>
              </a:rPr>
              <a:t>enables </a:t>
            </a:r>
            <a:r>
              <a:rPr lang="en-US" sz="2000" b="1" dirty="0">
                <a:latin typeface="Times New Roman"/>
                <a:cs typeface="Times New Roman"/>
              </a:rPr>
              <a:t>users</a:t>
            </a:r>
            <a:r>
              <a:rPr lang="en-US" sz="2000" b="1" spc="-5" dirty="0">
                <a:latin typeface="Times New Roman"/>
                <a:cs typeface="Times New Roman"/>
              </a:rPr>
              <a:t> </a:t>
            </a:r>
            <a:r>
              <a:rPr lang="en-US" sz="2000" b="1" dirty="0">
                <a:latin typeface="Times New Roman"/>
                <a:cs typeface="Times New Roman"/>
              </a:rPr>
              <a:t>to</a:t>
            </a:r>
            <a:r>
              <a:rPr lang="en-US" sz="2000" b="1" spc="-5" dirty="0">
                <a:latin typeface="Times New Roman"/>
                <a:cs typeface="Times New Roman"/>
              </a:rPr>
              <a:t> </a:t>
            </a:r>
            <a:r>
              <a:rPr lang="en-US" sz="2000" b="1" spc="-10" dirty="0">
                <a:latin typeface="Times New Roman"/>
                <a:cs typeface="Times New Roman"/>
              </a:rPr>
              <a:t>make</a:t>
            </a:r>
            <a:r>
              <a:rPr lang="en-US" sz="2000" b="1" spc="-20" dirty="0">
                <a:latin typeface="Times New Roman"/>
                <a:cs typeface="Times New Roman"/>
              </a:rPr>
              <a:t> </a:t>
            </a:r>
            <a:r>
              <a:rPr lang="en-US" sz="2000" b="1" spc="-10" dirty="0">
                <a:latin typeface="Times New Roman"/>
                <a:cs typeface="Times New Roman"/>
              </a:rPr>
              <a:t>data-</a:t>
            </a:r>
            <a:r>
              <a:rPr lang="en-US" sz="2000" b="1" dirty="0">
                <a:latin typeface="Times New Roman"/>
                <a:cs typeface="Times New Roman"/>
              </a:rPr>
              <a:t>driven</a:t>
            </a:r>
            <a:r>
              <a:rPr lang="en-US" sz="2000" b="1" spc="-5" dirty="0">
                <a:latin typeface="Times New Roman"/>
                <a:cs typeface="Times New Roman"/>
              </a:rPr>
              <a:t> </a:t>
            </a:r>
            <a:r>
              <a:rPr lang="en-US" sz="2000" b="1" dirty="0">
                <a:latin typeface="Times New Roman"/>
                <a:cs typeface="Times New Roman"/>
              </a:rPr>
              <a:t>decisions by</a:t>
            </a:r>
            <a:r>
              <a:rPr lang="en-US" sz="2000" b="1" spc="-35" dirty="0">
                <a:latin typeface="Times New Roman"/>
                <a:cs typeface="Times New Roman"/>
              </a:rPr>
              <a:t> </a:t>
            </a:r>
            <a:r>
              <a:rPr lang="en-US" sz="2000" b="1" spc="-10" dirty="0">
                <a:latin typeface="Times New Roman"/>
                <a:cs typeface="Times New Roman"/>
              </a:rPr>
              <a:t>presenting</a:t>
            </a:r>
            <a:r>
              <a:rPr lang="en-US" sz="2000" b="1" spc="-40" dirty="0">
                <a:latin typeface="Times New Roman"/>
                <a:cs typeface="Times New Roman"/>
              </a:rPr>
              <a:t> </a:t>
            </a:r>
            <a:r>
              <a:rPr lang="en-US" sz="2000" b="1" spc="-10" dirty="0">
                <a:latin typeface="Times New Roman"/>
                <a:cs typeface="Times New Roman"/>
              </a:rPr>
              <a:t>interactive</a:t>
            </a:r>
            <a:r>
              <a:rPr lang="en-US" sz="2000" b="1" spc="-20" dirty="0">
                <a:latin typeface="Times New Roman"/>
                <a:cs typeface="Times New Roman"/>
              </a:rPr>
              <a:t> </a:t>
            </a:r>
            <a:r>
              <a:rPr lang="en-US" sz="2000" b="1" dirty="0">
                <a:latin typeface="Times New Roman"/>
                <a:cs typeface="Times New Roman"/>
              </a:rPr>
              <a:t>charts,</a:t>
            </a:r>
            <a:r>
              <a:rPr lang="en-US" sz="2000" b="1" spc="-5" dirty="0">
                <a:latin typeface="Times New Roman"/>
                <a:cs typeface="Times New Roman"/>
              </a:rPr>
              <a:t> </a:t>
            </a:r>
            <a:r>
              <a:rPr lang="en-US" sz="2000" b="1" dirty="0">
                <a:latin typeface="Times New Roman"/>
                <a:cs typeface="Times New Roman"/>
              </a:rPr>
              <a:t>KPIs,</a:t>
            </a:r>
            <a:r>
              <a:rPr lang="en-US" sz="2000" b="1" spc="25" dirty="0">
                <a:latin typeface="Times New Roman"/>
                <a:cs typeface="Times New Roman"/>
              </a:rPr>
              <a:t> </a:t>
            </a:r>
            <a:r>
              <a:rPr lang="en-US" sz="2000" b="1" spc="-10" dirty="0">
                <a:latin typeface="Times New Roman"/>
                <a:cs typeface="Times New Roman"/>
              </a:rPr>
              <a:t>maps,</a:t>
            </a:r>
            <a:r>
              <a:rPr lang="en-US" sz="2000" b="1" spc="-5" dirty="0">
                <a:latin typeface="Times New Roman"/>
                <a:cs typeface="Times New Roman"/>
              </a:rPr>
              <a:t> </a:t>
            </a:r>
            <a:r>
              <a:rPr lang="en-US" sz="2000" b="1" dirty="0">
                <a:latin typeface="Times New Roman"/>
                <a:cs typeface="Times New Roman"/>
              </a:rPr>
              <a:t>and</a:t>
            </a:r>
            <a:r>
              <a:rPr lang="en-US" sz="2000" b="1" spc="-5" dirty="0">
                <a:latin typeface="Times New Roman"/>
                <a:cs typeface="Times New Roman"/>
              </a:rPr>
              <a:t> </a:t>
            </a:r>
            <a:r>
              <a:rPr lang="en-US" sz="2000" b="1" dirty="0">
                <a:latin typeface="Times New Roman"/>
                <a:cs typeface="Times New Roman"/>
              </a:rPr>
              <a:t>filters</a:t>
            </a:r>
            <a:r>
              <a:rPr lang="en-US" sz="2000" b="1" spc="35" dirty="0">
                <a:latin typeface="Times New Roman"/>
                <a:cs typeface="Times New Roman"/>
              </a:rPr>
              <a:t> </a:t>
            </a:r>
            <a:r>
              <a:rPr lang="en-US" sz="2000" b="1" dirty="0">
                <a:latin typeface="Times New Roman"/>
                <a:cs typeface="Times New Roman"/>
              </a:rPr>
              <a:t>in</a:t>
            </a:r>
            <a:r>
              <a:rPr lang="en-US" sz="2000" b="1" spc="-5" dirty="0">
                <a:latin typeface="Times New Roman"/>
                <a:cs typeface="Times New Roman"/>
              </a:rPr>
              <a:t> </a:t>
            </a:r>
            <a:r>
              <a:rPr lang="en-US" sz="2000" b="1" dirty="0">
                <a:latin typeface="Times New Roman"/>
                <a:cs typeface="Times New Roman"/>
              </a:rPr>
              <a:t>a</a:t>
            </a:r>
            <a:r>
              <a:rPr lang="en-US" sz="2000" b="1" spc="15" dirty="0">
                <a:latin typeface="Times New Roman"/>
                <a:cs typeface="Times New Roman"/>
              </a:rPr>
              <a:t> </a:t>
            </a:r>
            <a:r>
              <a:rPr lang="en-US" sz="2000" b="1" spc="-10" dirty="0">
                <a:latin typeface="Times New Roman"/>
                <a:cs typeface="Times New Roman"/>
              </a:rPr>
              <a:t>visually </a:t>
            </a:r>
            <a:r>
              <a:rPr lang="en-US" sz="2000" b="1" dirty="0">
                <a:latin typeface="Times New Roman"/>
                <a:cs typeface="Times New Roman"/>
              </a:rPr>
              <a:t>intuitive</a:t>
            </a:r>
            <a:r>
              <a:rPr lang="en-US" sz="2000" b="1" spc="-50" dirty="0">
                <a:latin typeface="Times New Roman"/>
                <a:cs typeface="Times New Roman"/>
              </a:rPr>
              <a:t> </a:t>
            </a:r>
            <a:r>
              <a:rPr lang="en-US" sz="2000" b="1" spc="-10" dirty="0">
                <a:latin typeface="Times New Roman"/>
                <a:cs typeface="Times New Roman"/>
              </a:rPr>
              <a:t>format.</a:t>
            </a:r>
            <a:endParaRPr lang="en-US" sz="2000" b="1" dirty="0">
              <a:latin typeface="Times New Roman"/>
              <a:cs typeface="Times New Roman"/>
            </a:endParaRPr>
          </a:p>
          <a:p>
            <a:endParaRPr lang="en-US" dirty="0"/>
          </a:p>
        </p:txBody>
      </p:sp>
    </p:spTree>
    <p:extLst>
      <p:ext uri="{BB962C8B-B14F-4D97-AF65-F5344CB8AC3E}">
        <p14:creationId xmlns:p14="http://schemas.microsoft.com/office/powerpoint/2010/main" val="299893818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32E6-F5DF-402C-5B5C-8BC8CD545481}"/>
              </a:ext>
            </a:extLst>
          </p:cNvPr>
          <p:cNvSpPr>
            <a:spLocks noGrp="1"/>
          </p:cNvSpPr>
          <p:nvPr>
            <p:ph type="title"/>
          </p:nvPr>
        </p:nvSpPr>
        <p:spPr/>
        <p:txBody>
          <a:bodyPr/>
          <a:lstStyle/>
          <a:p>
            <a:r>
              <a:rPr lang="en-US" dirty="0"/>
              <a:t>Benefits Of Using Tableau</a:t>
            </a:r>
            <a:endParaRPr lang="en-IN" dirty="0"/>
          </a:p>
        </p:txBody>
      </p:sp>
      <p:sp>
        <p:nvSpPr>
          <p:cNvPr id="3" name="Content Placeholder 2">
            <a:extLst>
              <a:ext uri="{FF2B5EF4-FFF2-40B4-BE49-F238E27FC236}">
                <a16:creationId xmlns:a16="http://schemas.microsoft.com/office/drawing/2014/main" id="{91378F0B-5246-C268-5C75-C418506BD6FB}"/>
              </a:ext>
            </a:extLst>
          </p:cNvPr>
          <p:cNvSpPr>
            <a:spLocks noGrp="1"/>
          </p:cNvSpPr>
          <p:nvPr>
            <p:ph idx="1"/>
          </p:nvPr>
        </p:nvSpPr>
        <p:spPr/>
        <p:txBody>
          <a:bodyPr/>
          <a:lstStyle/>
          <a:p>
            <a:pPr marL="469900">
              <a:lnSpc>
                <a:spcPct val="100000"/>
              </a:lnSpc>
              <a:spcBef>
                <a:spcPts val="905"/>
              </a:spcBef>
              <a:buFont typeface="Symbol"/>
              <a:buChar char=""/>
              <a:tabLst>
                <a:tab pos="469900" algn="l"/>
              </a:tabLst>
            </a:pPr>
            <a:r>
              <a:rPr lang="en-US" spc="-10" dirty="0">
                <a:latin typeface="Times New Roman"/>
                <a:cs typeface="Times New Roman"/>
              </a:rPr>
              <a:t>Real-</a:t>
            </a:r>
            <a:r>
              <a:rPr lang="en-US" dirty="0">
                <a:latin typeface="Times New Roman"/>
                <a:cs typeface="Times New Roman"/>
              </a:rPr>
              <a:t>time </a:t>
            </a:r>
            <a:r>
              <a:rPr lang="en-US" spc="-10" dirty="0">
                <a:latin typeface="Times New Roman"/>
                <a:cs typeface="Times New Roman"/>
              </a:rPr>
              <a:t>interactivity</a:t>
            </a:r>
            <a:r>
              <a:rPr lang="en-US" spc="-15" dirty="0">
                <a:latin typeface="Times New Roman"/>
                <a:cs typeface="Times New Roman"/>
              </a:rPr>
              <a:t> </a:t>
            </a:r>
            <a:r>
              <a:rPr lang="en-US" dirty="0">
                <a:latin typeface="Times New Roman"/>
                <a:cs typeface="Times New Roman"/>
              </a:rPr>
              <a:t>and</a:t>
            </a:r>
            <a:r>
              <a:rPr lang="en-US" spc="20" dirty="0">
                <a:latin typeface="Times New Roman"/>
                <a:cs typeface="Times New Roman"/>
              </a:rPr>
              <a:t> </a:t>
            </a:r>
            <a:r>
              <a:rPr lang="en-US" spc="-10" dirty="0">
                <a:latin typeface="Times New Roman"/>
                <a:cs typeface="Times New Roman"/>
              </a:rPr>
              <a:t>dynamic</a:t>
            </a:r>
            <a:r>
              <a:rPr lang="en-US" spc="5" dirty="0">
                <a:latin typeface="Times New Roman"/>
                <a:cs typeface="Times New Roman"/>
              </a:rPr>
              <a:t> </a:t>
            </a:r>
            <a:r>
              <a:rPr lang="en-US" spc="-10" dirty="0">
                <a:latin typeface="Times New Roman"/>
                <a:cs typeface="Times New Roman"/>
              </a:rPr>
              <a:t>updates</a:t>
            </a:r>
            <a:endParaRPr lang="en-US" dirty="0">
              <a:latin typeface="Times New Roman"/>
              <a:cs typeface="Times New Roman"/>
            </a:endParaRPr>
          </a:p>
          <a:p>
            <a:pPr marL="469900">
              <a:lnSpc>
                <a:spcPct val="100000"/>
              </a:lnSpc>
              <a:spcBef>
                <a:spcPts val="925"/>
              </a:spcBef>
              <a:buFont typeface="Symbol"/>
              <a:buChar char=""/>
              <a:tabLst>
                <a:tab pos="469900" algn="l"/>
              </a:tabLst>
            </a:pPr>
            <a:r>
              <a:rPr lang="en-US" dirty="0">
                <a:latin typeface="Times New Roman"/>
                <a:cs typeface="Times New Roman"/>
              </a:rPr>
              <a:t>Easy</a:t>
            </a:r>
            <a:r>
              <a:rPr lang="en-US" spc="-60" dirty="0">
                <a:latin typeface="Times New Roman"/>
                <a:cs typeface="Times New Roman"/>
              </a:rPr>
              <a:t> </a:t>
            </a:r>
            <a:r>
              <a:rPr lang="en-US" dirty="0">
                <a:latin typeface="Times New Roman"/>
                <a:cs typeface="Times New Roman"/>
              </a:rPr>
              <a:t>integration</a:t>
            </a:r>
            <a:r>
              <a:rPr lang="en-US" spc="-30" dirty="0">
                <a:latin typeface="Times New Roman"/>
                <a:cs typeface="Times New Roman"/>
              </a:rPr>
              <a:t> </a:t>
            </a:r>
            <a:r>
              <a:rPr lang="en-US" dirty="0">
                <a:latin typeface="Times New Roman"/>
                <a:cs typeface="Times New Roman"/>
              </a:rPr>
              <a:t>with</a:t>
            </a:r>
            <a:r>
              <a:rPr lang="en-US" spc="-30" dirty="0">
                <a:latin typeface="Times New Roman"/>
                <a:cs typeface="Times New Roman"/>
              </a:rPr>
              <a:t> </a:t>
            </a:r>
            <a:r>
              <a:rPr lang="en-US" dirty="0">
                <a:latin typeface="Times New Roman"/>
                <a:cs typeface="Times New Roman"/>
              </a:rPr>
              <a:t>Excel,</a:t>
            </a:r>
            <a:r>
              <a:rPr lang="en-US" spc="-25" dirty="0">
                <a:latin typeface="Times New Roman"/>
                <a:cs typeface="Times New Roman"/>
              </a:rPr>
              <a:t> </a:t>
            </a:r>
            <a:r>
              <a:rPr lang="en-US" dirty="0">
                <a:latin typeface="Times New Roman"/>
                <a:cs typeface="Times New Roman"/>
              </a:rPr>
              <a:t>SQL,</a:t>
            </a:r>
            <a:r>
              <a:rPr lang="en-US" spc="-30" dirty="0">
                <a:latin typeface="Times New Roman"/>
                <a:cs typeface="Times New Roman"/>
              </a:rPr>
              <a:t> </a:t>
            </a:r>
            <a:r>
              <a:rPr lang="en-US" dirty="0">
                <a:latin typeface="Times New Roman"/>
                <a:cs typeface="Times New Roman"/>
              </a:rPr>
              <a:t>and</a:t>
            </a:r>
            <a:r>
              <a:rPr lang="en-US" spc="-30" dirty="0">
                <a:latin typeface="Times New Roman"/>
                <a:cs typeface="Times New Roman"/>
              </a:rPr>
              <a:t> </a:t>
            </a:r>
            <a:r>
              <a:rPr lang="en-US" dirty="0">
                <a:latin typeface="Times New Roman"/>
                <a:cs typeface="Times New Roman"/>
              </a:rPr>
              <a:t>cloud</a:t>
            </a:r>
            <a:r>
              <a:rPr lang="en-US" spc="-30" dirty="0">
                <a:latin typeface="Times New Roman"/>
                <a:cs typeface="Times New Roman"/>
              </a:rPr>
              <a:t> </a:t>
            </a:r>
            <a:r>
              <a:rPr lang="en-US" dirty="0">
                <a:latin typeface="Times New Roman"/>
                <a:cs typeface="Times New Roman"/>
              </a:rPr>
              <a:t>data</a:t>
            </a:r>
            <a:r>
              <a:rPr lang="en-US" spc="-40" dirty="0">
                <a:latin typeface="Times New Roman"/>
                <a:cs typeface="Times New Roman"/>
              </a:rPr>
              <a:t> </a:t>
            </a:r>
            <a:r>
              <a:rPr lang="en-US" spc="-10" dirty="0">
                <a:latin typeface="Times New Roman"/>
                <a:cs typeface="Times New Roman"/>
              </a:rPr>
              <a:t>sources</a:t>
            </a:r>
            <a:endParaRPr lang="en-US" dirty="0">
              <a:latin typeface="Times New Roman"/>
              <a:cs typeface="Times New Roman"/>
            </a:endParaRPr>
          </a:p>
          <a:p>
            <a:pPr marL="469900">
              <a:lnSpc>
                <a:spcPct val="100000"/>
              </a:lnSpc>
              <a:spcBef>
                <a:spcPts val="925"/>
              </a:spcBef>
              <a:buFont typeface="Symbol"/>
              <a:buChar char=""/>
              <a:tabLst>
                <a:tab pos="469900" algn="l"/>
              </a:tabLst>
            </a:pPr>
            <a:r>
              <a:rPr lang="en-US" spc="-20" dirty="0">
                <a:latin typeface="Times New Roman"/>
                <a:cs typeface="Times New Roman"/>
              </a:rPr>
              <a:t>User-</a:t>
            </a:r>
            <a:r>
              <a:rPr lang="en-US" dirty="0">
                <a:latin typeface="Times New Roman"/>
                <a:cs typeface="Times New Roman"/>
              </a:rPr>
              <a:t>friendly</a:t>
            </a:r>
            <a:r>
              <a:rPr lang="en-US" spc="-35" dirty="0">
                <a:latin typeface="Times New Roman"/>
                <a:cs typeface="Times New Roman"/>
              </a:rPr>
              <a:t> </a:t>
            </a:r>
            <a:r>
              <a:rPr lang="en-US" dirty="0">
                <a:latin typeface="Times New Roman"/>
                <a:cs typeface="Times New Roman"/>
              </a:rPr>
              <a:t>interface</a:t>
            </a:r>
            <a:r>
              <a:rPr lang="en-US" spc="20" dirty="0">
                <a:latin typeface="Times New Roman"/>
                <a:cs typeface="Times New Roman"/>
              </a:rPr>
              <a:t> </a:t>
            </a:r>
            <a:r>
              <a:rPr lang="en-US" dirty="0">
                <a:latin typeface="Times New Roman"/>
                <a:cs typeface="Times New Roman"/>
              </a:rPr>
              <a:t>with</a:t>
            </a:r>
            <a:r>
              <a:rPr lang="en-US" spc="20" dirty="0">
                <a:latin typeface="Times New Roman"/>
                <a:cs typeface="Times New Roman"/>
              </a:rPr>
              <a:t> </a:t>
            </a:r>
            <a:r>
              <a:rPr lang="en-US" spc="-20" dirty="0">
                <a:latin typeface="Times New Roman"/>
                <a:cs typeface="Times New Roman"/>
              </a:rPr>
              <a:t>drag-and-</a:t>
            </a:r>
            <a:r>
              <a:rPr lang="en-US" dirty="0">
                <a:latin typeface="Times New Roman"/>
                <a:cs typeface="Times New Roman"/>
              </a:rPr>
              <a:t>drop </a:t>
            </a:r>
            <a:r>
              <a:rPr lang="en-US" spc="-10" dirty="0">
                <a:latin typeface="Times New Roman"/>
                <a:cs typeface="Times New Roman"/>
              </a:rPr>
              <a:t>design</a:t>
            </a:r>
            <a:endParaRPr lang="en-US" dirty="0">
              <a:latin typeface="Times New Roman"/>
              <a:cs typeface="Times New Roman"/>
            </a:endParaRPr>
          </a:p>
          <a:p>
            <a:pPr marL="469900">
              <a:lnSpc>
                <a:spcPct val="100000"/>
              </a:lnSpc>
              <a:spcBef>
                <a:spcPts val="890"/>
              </a:spcBef>
              <a:buFont typeface="Symbol"/>
              <a:buChar char=""/>
              <a:tabLst>
                <a:tab pos="469900" algn="l"/>
              </a:tabLst>
            </a:pPr>
            <a:r>
              <a:rPr lang="en-US" dirty="0">
                <a:latin typeface="Times New Roman"/>
                <a:cs typeface="Times New Roman"/>
              </a:rPr>
              <a:t>Supports</a:t>
            </a:r>
            <a:r>
              <a:rPr lang="en-US" spc="-20" dirty="0">
                <a:latin typeface="Times New Roman"/>
                <a:cs typeface="Times New Roman"/>
              </a:rPr>
              <a:t> advanced</a:t>
            </a:r>
            <a:r>
              <a:rPr lang="en-US" spc="-25" dirty="0">
                <a:latin typeface="Times New Roman"/>
                <a:cs typeface="Times New Roman"/>
              </a:rPr>
              <a:t> </a:t>
            </a:r>
            <a:r>
              <a:rPr lang="en-US" dirty="0">
                <a:latin typeface="Times New Roman"/>
                <a:cs typeface="Times New Roman"/>
              </a:rPr>
              <a:t>calculations</a:t>
            </a:r>
            <a:r>
              <a:rPr lang="en-US" spc="15" dirty="0">
                <a:latin typeface="Times New Roman"/>
                <a:cs typeface="Times New Roman"/>
              </a:rPr>
              <a:t> </a:t>
            </a:r>
            <a:r>
              <a:rPr lang="en-US" dirty="0">
                <a:latin typeface="Times New Roman"/>
                <a:cs typeface="Times New Roman"/>
              </a:rPr>
              <a:t>via</a:t>
            </a:r>
            <a:r>
              <a:rPr lang="en-US" spc="5" dirty="0">
                <a:latin typeface="Times New Roman"/>
                <a:cs typeface="Times New Roman"/>
              </a:rPr>
              <a:t> </a:t>
            </a:r>
            <a:r>
              <a:rPr lang="en-US" spc="-10" dirty="0">
                <a:latin typeface="Times New Roman"/>
                <a:cs typeface="Times New Roman"/>
              </a:rPr>
              <a:t>Tableau</a:t>
            </a:r>
            <a:r>
              <a:rPr lang="en-US" spc="-25" dirty="0">
                <a:latin typeface="Times New Roman"/>
                <a:cs typeface="Times New Roman"/>
              </a:rPr>
              <a:t> </a:t>
            </a:r>
            <a:r>
              <a:rPr lang="en-US" dirty="0">
                <a:latin typeface="Times New Roman"/>
                <a:cs typeface="Times New Roman"/>
              </a:rPr>
              <a:t>Calculated</a:t>
            </a:r>
            <a:r>
              <a:rPr lang="en-US" spc="-20" dirty="0">
                <a:latin typeface="Times New Roman"/>
                <a:cs typeface="Times New Roman"/>
              </a:rPr>
              <a:t> </a:t>
            </a:r>
            <a:r>
              <a:rPr lang="en-US" spc="-10" dirty="0">
                <a:latin typeface="Times New Roman"/>
                <a:cs typeface="Times New Roman"/>
              </a:rPr>
              <a:t>Fields</a:t>
            </a:r>
            <a:endParaRPr lang="en-US" dirty="0">
              <a:latin typeface="Times New Roman"/>
              <a:cs typeface="Times New Roman"/>
            </a:endParaRPr>
          </a:p>
          <a:p>
            <a:endParaRPr lang="en-IN" dirty="0"/>
          </a:p>
        </p:txBody>
      </p:sp>
    </p:spTree>
    <p:extLst>
      <p:ext uri="{BB962C8B-B14F-4D97-AF65-F5344CB8AC3E}">
        <p14:creationId xmlns:p14="http://schemas.microsoft.com/office/powerpoint/2010/main" val="282841614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1AC5-3E41-B5DE-D58F-F6504DECDECF}"/>
              </a:ext>
            </a:extLst>
          </p:cNvPr>
          <p:cNvSpPr>
            <a:spLocks noGrp="1"/>
          </p:cNvSpPr>
          <p:nvPr>
            <p:ph type="title"/>
          </p:nvPr>
        </p:nvSpPr>
        <p:spPr>
          <a:xfrm>
            <a:off x="1066800" y="457518"/>
            <a:ext cx="10058400" cy="588962"/>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450710A5-D6F7-022B-7436-3B5743D64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400" y="1422400"/>
            <a:ext cx="11338559" cy="4749800"/>
          </a:xfrm>
        </p:spPr>
      </p:pic>
    </p:spTree>
    <p:extLst>
      <p:ext uri="{BB962C8B-B14F-4D97-AF65-F5344CB8AC3E}">
        <p14:creationId xmlns:p14="http://schemas.microsoft.com/office/powerpoint/2010/main" val="15889980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fill="hold" nodeType="clickEffect">
                                  <p:stCondLst>
                                    <p:cond delay="0"/>
                                  </p:stCondLst>
                                  <p:childTnLst>
                                    <p:animClr clrSpc="hsl" dir="cw">
                                      <p:cBhvr override="childStyle">
                                        <p:cTn id="6" dur="500" fill="hold"/>
                                        <p:tgtEl>
                                          <p:spTgt spid="5"/>
                                        </p:tgtEl>
                                        <p:attrNameLst>
                                          <p:attrName>style.color</p:attrName>
                                        </p:attrNameLst>
                                      </p:cBhvr>
                                      <p:by>
                                        <p:hsl h="0" s="-70588" l="0"/>
                                      </p:by>
                                    </p:animClr>
                                    <p:animClr clrSpc="hsl" dir="cw">
                                      <p:cBhvr>
                                        <p:cTn id="7" dur="500" fill="hold"/>
                                        <p:tgtEl>
                                          <p:spTgt spid="5"/>
                                        </p:tgtEl>
                                        <p:attrNameLst>
                                          <p:attrName>fillcolor</p:attrName>
                                        </p:attrNameLst>
                                      </p:cBhvr>
                                      <p:by>
                                        <p:hsl h="0" s="-70588" l="0"/>
                                      </p:by>
                                    </p:animClr>
                                    <p:animClr clrSpc="hsl" dir="cw">
                                      <p:cBhvr>
                                        <p:cTn id="8" dur="500" fill="hold"/>
                                        <p:tgtEl>
                                          <p:spTgt spid="5"/>
                                        </p:tgtEl>
                                        <p:attrNameLst>
                                          <p:attrName>stroke.color</p:attrName>
                                        </p:attrNameLst>
                                      </p:cBhvr>
                                      <p:by>
                                        <p:hsl h="0" s="-70588" l="0"/>
                                      </p:by>
                                    </p:animClr>
                                    <p:set>
                                      <p:cBhvr>
                                        <p:cTn id="9" dur="500" fill="hold"/>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5311E-76C6-024F-FCB1-B75A3F451A5B}"/>
              </a:ext>
            </a:extLst>
          </p:cNvPr>
          <p:cNvSpPr>
            <a:spLocks noGrp="1"/>
          </p:cNvSpPr>
          <p:nvPr>
            <p:ph type="title"/>
          </p:nvPr>
        </p:nvSpPr>
        <p:spPr/>
        <p:txBody>
          <a:bodyPr/>
          <a:lstStyle/>
          <a:p>
            <a:r>
              <a:rPr lang="en-US" dirty="0"/>
              <a:t>MACHINE LEARNING</a:t>
            </a:r>
            <a:endParaRPr lang="en-IN" dirty="0"/>
          </a:p>
        </p:txBody>
      </p:sp>
      <p:sp>
        <p:nvSpPr>
          <p:cNvPr id="3" name="Content Placeholder 2">
            <a:extLst>
              <a:ext uri="{FF2B5EF4-FFF2-40B4-BE49-F238E27FC236}">
                <a16:creationId xmlns:a16="http://schemas.microsoft.com/office/drawing/2014/main" id="{35302A2C-C119-841E-DB4A-B06DF7B4D3B7}"/>
              </a:ext>
            </a:extLst>
          </p:cNvPr>
          <p:cNvSpPr>
            <a:spLocks noGrp="1"/>
          </p:cNvSpPr>
          <p:nvPr>
            <p:ph idx="1"/>
          </p:nvPr>
        </p:nvSpPr>
        <p:spPr/>
        <p:txBody>
          <a:bodyPr/>
          <a:lstStyle/>
          <a:p>
            <a:pPr marL="12700" marR="5080">
              <a:lnSpc>
                <a:spcPct val="112000"/>
              </a:lnSpc>
              <a:spcBef>
                <a:spcPts val="95"/>
              </a:spcBef>
            </a:pPr>
            <a:r>
              <a:rPr lang="en-US" b="1" dirty="0">
                <a:latin typeface="Times New Roman"/>
                <a:cs typeface="Times New Roman"/>
              </a:rPr>
              <a:t>Machine</a:t>
            </a:r>
            <a:r>
              <a:rPr lang="en-US" b="1" spc="-25" dirty="0">
                <a:latin typeface="Times New Roman"/>
                <a:cs typeface="Times New Roman"/>
              </a:rPr>
              <a:t> </a:t>
            </a:r>
            <a:r>
              <a:rPr lang="en-US" b="1" dirty="0">
                <a:latin typeface="Times New Roman"/>
                <a:cs typeface="Times New Roman"/>
              </a:rPr>
              <a:t>Learning</a:t>
            </a:r>
            <a:r>
              <a:rPr lang="en-US" b="1" spc="-20" dirty="0">
                <a:latin typeface="Times New Roman"/>
                <a:cs typeface="Times New Roman"/>
              </a:rPr>
              <a:t> </a:t>
            </a:r>
            <a:r>
              <a:rPr lang="en-US" b="1" dirty="0">
                <a:latin typeface="Times New Roman"/>
                <a:cs typeface="Times New Roman"/>
              </a:rPr>
              <a:t>(ML)</a:t>
            </a:r>
            <a:r>
              <a:rPr lang="en-US" b="1" spc="10" dirty="0">
                <a:latin typeface="Times New Roman"/>
                <a:cs typeface="Times New Roman"/>
              </a:rPr>
              <a:t> </a:t>
            </a:r>
            <a:r>
              <a:rPr lang="en-US" b="1" dirty="0">
                <a:latin typeface="Times New Roman"/>
                <a:cs typeface="Times New Roman"/>
              </a:rPr>
              <a:t>is</a:t>
            </a:r>
            <a:r>
              <a:rPr lang="en-US" b="1" spc="-40" dirty="0">
                <a:latin typeface="Times New Roman"/>
                <a:cs typeface="Times New Roman"/>
              </a:rPr>
              <a:t> </a:t>
            </a:r>
            <a:r>
              <a:rPr lang="en-US" b="1" dirty="0">
                <a:latin typeface="Times New Roman"/>
                <a:cs typeface="Times New Roman"/>
              </a:rPr>
              <a:t>a</a:t>
            </a:r>
            <a:r>
              <a:rPr lang="en-US" b="1" spc="-25" dirty="0">
                <a:latin typeface="Times New Roman"/>
                <a:cs typeface="Times New Roman"/>
              </a:rPr>
              <a:t> </a:t>
            </a:r>
            <a:r>
              <a:rPr lang="en-US" b="1" dirty="0">
                <a:latin typeface="Times New Roman"/>
                <a:cs typeface="Times New Roman"/>
              </a:rPr>
              <a:t>subfield</a:t>
            </a:r>
            <a:r>
              <a:rPr lang="en-US" b="1" spc="15" dirty="0">
                <a:latin typeface="Times New Roman"/>
                <a:cs typeface="Times New Roman"/>
              </a:rPr>
              <a:t> </a:t>
            </a:r>
            <a:r>
              <a:rPr lang="en-US" b="1" dirty="0">
                <a:latin typeface="Times New Roman"/>
                <a:cs typeface="Times New Roman"/>
              </a:rPr>
              <a:t>of</a:t>
            </a:r>
            <a:r>
              <a:rPr lang="en-US" b="1" spc="5" dirty="0">
                <a:latin typeface="Times New Roman"/>
                <a:cs typeface="Times New Roman"/>
              </a:rPr>
              <a:t> </a:t>
            </a:r>
            <a:r>
              <a:rPr lang="en-US" b="1" dirty="0">
                <a:latin typeface="Times New Roman"/>
                <a:cs typeface="Times New Roman"/>
              </a:rPr>
              <a:t>Artificial</a:t>
            </a:r>
            <a:r>
              <a:rPr lang="en-US" b="1" spc="-25" dirty="0">
                <a:latin typeface="Times New Roman"/>
                <a:cs typeface="Times New Roman"/>
              </a:rPr>
              <a:t> </a:t>
            </a:r>
            <a:r>
              <a:rPr lang="en-US" b="1" dirty="0">
                <a:latin typeface="Times New Roman"/>
                <a:cs typeface="Times New Roman"/>
              </a:rPr>
              <a:t>Intelligence</a:t>
            </a:r>
            <a:r>
              <a:rPr lang="en-US" b="1" spc="5" dirty="0">
                <a:latin typeface="Times New Roman"/>
                <a:cs typeface="Times New Roman"/>
              </a:rPr>
              <a:t> </a:t>
            </a:r>
            <a:r>
              <a:rPr lang="en-US" b="1" dirty="0">
                <a:latin typeface="Times New Roman"/>
                <a:cs typeface="Times New Roman"/>
              </a:rPr>
              <a:t>(AI)</a:t>
            </a:r>
            <a:r>
              <a:rPr lang="en-US" b="1" spc="20" dirty="0">
                <a:latin typeface="Times New Roman"/>
                <a:cs typeface="Times New Roman"/>
              </a:rPr>
              <a:t> </a:t>
            </a:r>
            <a:r>
              <a:rPr lang="en-US" b="1" dirty="0">
                <a:latin typeface="Times New Roman"/>
                <a:cs typeface="Times New Roman"/>
              </a:rPr>
              <a:t>that</a:t>
            </a:r>
            <a:r>
              <a:rPr lang="en-US" b="1" spc="10" dirty="0">
                <a:latin typeface="Times New Roman"/>
                <a:cs typeface="Times New Roman"/>
              </a:rPr>
              <a:t> </a:t>
            </a:r>
            <a:r>
              <a:rPr lang="en-US" b="1" spc="-10" dirty="0">
                <a:latin typeface="Times New Roman"/>
                <a:cs typeface="Times New Roman"/>
              </a:rPr>
              <a:t>focuses</a:t>
            </a:r>
            <a:r>
              <a:rPr lang="en-US" b="1" spc="-35" dirty="0">
                <a:latin typeface="Times New Roman"/>
                <a:cs typeface="Times New Roman"/>
              </a:rPr>
              <a:t> </a:t>
            </a:r>
            <a:r>
              <a:rPr lang="en-US" b="1" dirty="0">
                <a:latin typeface="Times New Roman"/>
                <a:cs typeface="Times New Roman"/>
              </a:rPr>
              <a:t>on</a:t>
            </a:r>
            <a:r>
              <a:rPr lang="en-US" b="1" spc="-20" dirty="0">
                <a:latin typeface="Times New Roman"/>
                <a:cs typeface="Times New Roman"/>
              </a:rPr>
              <a:t> </a:t>
            </a:r>
            <a:r>
              <a:rPr lang="en-US" b="1" dirty="0">
                <a:latin typeface="Times New Roman"/>
                <a:cs typeface="Times New Roman"/>
              </a:rPr>
              <a:t>building</a:t>
            </a:r>
            <a:r>
              <a:rPr lang="en-US" b="1" spc="-15" dirty="0">
                <a:latin typeface="Times New Roman"/>
                <a:cs typeface="Times New Roman"/>
              </a:rPr>
              <a:t> </a:t>
            </a:r>
            <a:r>
              <a:rPr lang="en-US" b="1" spc="-10" dirty="0">
                <a:latin typeface="Times New Roman"/>
                <a:cs typeface="Times New Roman"/>
              </a:rPr>
              <a:t>systems </a:t>
            </a:r>
            <a:r>
              <a:rPr lang="en-US" b="1" dirty="0">
                <a:latin typeface="Times New Roman"/>
                <a:cs typeface="Times New Roman"/>
              </a:rPr>
              <a:t>that</a:t>
            </a:r>
            <a:r>
              <a:rPr lang="en-US" b="1" spc="-30" dirty="0">
                <a:latin typeface="Times New Roman"/>
                <a:cs typeface="Times New Roman"/>
              </a:rPr>
              <a:t> </a:t>
            </a:r>
            <a:r>
              <a:rPr lang="en-US" b="1" dirty="0">
                <a:latin typeface="Times New Roman"/>
                <a:cs typeface="Times New Roman"/>
              </a:rPr>
              <a:t>can</a:t>
            </a:r>
            <a:r>
              <a:rPr lang="en-US" b="1" spc="-45" dirty="0">
                <a:latin typeface="Times New Roman"/>
                <a:cs typeface="Times New Roman"/>
              </a:rPr>
              <a:t> </a:t>
            </a:r>
            <a:r>
              <a:rPr lang="en-US" b="1" dirty="0">
                <a:latin typeface="Times New Roman"/>
                <a:cs typeface="Times New Roman"/>
              </a:rPr>
              <a:t>learn</a:t>
            </a:r>
            <a:r>
              <a:rPr lang="en-US" b="1" spc="-20" dirty="0">
                <a:latin typeface="Times New Roman"/>
                <a:cs typeface="Times New Roman"/>
              </a:rPr>
              <a:t> </a:t>
            </a:r>
            <a:r>
              <a:rPr lang="en-US" b="1" dirty="0">
                <a:latin typeface="Times New Roman"/>
                <a:cs typeface="Times New Roman"/>
              </a:rPr>
              <a:t>from</a:t>
            </a:r>
            <a:r>
              <a:rPr lang="en-US" b="1" spc="-40" dirty="0">
                <a:latin typeface="Times New Roman"/>
                <a:cs typeface="Times New Roman"/>
              </a:rPr>
              <a:t> </a:t>
            </a:r>
            <a:r>
              <a:rPr lang="en-US" b="1" dirty="0">
                <a:latin typeface="Times New Roman"/>
                <a:cs typeface="Times New Roman"/>
              </a:rPr>
              <a:t>data,</a:t>
            </a:r>
            <a:r>
              <a:rPr lang="en-US" b="1" spc="-25" dirty="0">
                <a:latin typeface="Times New Roman"/>
                <a:cs typeface="Times New Roman"/>
              </a:rPr>
              <a:t> </a:t>
            </a:r>
            <a:r>
              <a:rPr lang="en-US" b="1" dirty="0">
                <a:latin typeface="Times New Roman"/>
                <a:cs typeface="Times New Roman"/>
              </a:rPr>
              <a:t>identify</a:t>
            </a:r>
            <a:r>
              <a:rPr lang="en-US" b="1" spc="-20" dirty="0">
                <a:latin typeface="Times New Roman"/>
                <a:cs typeface="Times New Roman"/>
              </a:rPr>
              <a:t> </a:t>
            </a:r>
            <a:r>
              <a:rPr lang="en-US" b="1" dirty="0">
                <a:latin typeface="Times New Roman"/>
                <a:cs typeface="Times New Roman"/>
              </a:rPr>
              <a:t>patterns,</a:t>
            </a:r>
            <a:r>
              <a:rPr lang="en-US" b="1" spc="5" dirty="0">
                <a:latin typeface="Times New Roman"/>
                <a:cs typeface="Times New Roman"/>
              </a:rPr>
              <a:t> </a:t>
            </a:r>
            <a:r>
              <a:rPr lang="en-US" b="1" dirty="0">
                <a:latin typeface="Times New Roman"/>
                <a:cs typeface="Times New Roman"/>
              </a:rPr>
              <a:t>and</a:t>
            </a:r>
            <a:r>
              <a:rPr lang="en-US" b="1" spc="10" dirty="0">
                <a:latin typeface="Times New Roman"/>
                <a:cs typeface="Times New Roman"/>
              </a:rPr>
              <a:t> </a:t>
            </a:r>
            <a:r>
              <a:rPr lang="en-US" b="1" dirty="0">
                <a:latin typeface="Times New Roman"/>
                <a:cs typeface="Times New Roman"/>
              </a:rPr>
              <a:t>make</a:t>
            </a:r>
            <a:r>
              <a:rPr lang="en-US" b="1" spc="-25" dirty="0">
                <a:latin typeface="Times New Roman"/>
                <a:cs typeface="Times New Roman"/>
              </a:rPr>
              <a:t> </a:t>
            </a:r>
            <a:r>
              <a:rPr lang="en-US" b="1" dirty="0">
                <a:latin typeface="Times New Roman"/>
                <a:cs typeface="Times New Roman"/>
              </a:rPr>
              <a:t>decisions</a:t>
            </a:r>
            <a:r>
              <a:rPr lang="en-US" b="1" spc="40" dirty="0">
                <a:latin typeface="Times New Roman"/>
                <a:cs typeface="Times New Roman"/>
              </a:rPr>
              <a:t> </a:t>
            </a:r>
            <a:r>
              <a:rPr lang="en-US" b="1" dirty="0">
                <a:latin typeface="Times New Roman"/>
                <a:cs typeface="Times New Roman"/>
              </a:rPr>
              <a:t>without</a:t>
            </a:r>
            <a:r>
              <a:rPr lang="en-US" b="1" spc="5" dirty="0">
                <a:latin typeface="Times New Roman"/>
                <a:cs typeface="Times New Roman"/>
              </a:rPr>
              <a:t> </a:t>
            </a:r>
            <a:r>
              <a:rPr lang="en-US" b="1" dirty="0">
                <a:latin typeface="Times New Roman"/>
                <a:cs typeface="Times New Roman"/>
              </a:rPr>
              <a:t>being</a:t>
            </a:r>
            <a:r>
              <a:rPr lang="en-US" b="1" spc="-20" dirty="0">
                <a:latin typeface="Times New Roman"/>
                <a:cs typeface="Times New Roman"/>
              </a:rPr>
              <a:t> </a:t>
            </a:r>
            <a:r>
              <a:rPr lang="en-US" b="1" dirty="0">
                <a:latin typeface="Times New Roman"/>
                <a:cs typeface="Times New Roman"/>
              </a:rPr>
              <a:t>explicitly</a:t>
            </a:r>
            <a:r>
              <a:rPr lang="en-US" b="1" spc="-20" dirty="0">
                <a:latin typeface="Times New Roman"/>
                <a:cs typeface="Times New Roman"/>
              </a:rPr>
              <a:t> </a:t>
            </a:r>
            <a:r>
              <a:rPr lang="en-US" b="1" spc="-10" dirty="0">
                <a:latin typeface="Times New Roman"/>
                <a:cs typeface="Times New Roman"/>
              </a:rPr>
              <a:t>programmed.</a:t>
            </a:r>
          </a:p>
          <a:p>
            <a:pPr marL="0" marR="5080" indent="0">
              <a:lnSpc>
                <a:spcPct val="112000"/>
              </a:lnSpc>
              <a:spcBef>
                <a:spcPts val="95"/>
              </a:spcBef>
              <a:buNone/>
            </a:pPr>
            <a:endParaRPr lang="en-US" b="1" dirty="0">
              <a:latin typeface="Times New Roman"/>
              <a:cs typeface="Times New Roman"/>
            </a:endParaRPr>
          </a:p>
          <a:p>
            <a:pPr marL="12700" marR="596900">
              <a:lnSpc>
                <a:spcPct val="109100"/>
              </a:lnSpc>
              <a:spcBef>
                <a:spcPts val="1010"/>
              </a:spcBef>
            </a:pPr>
            <a:r>
              <a:rPr lang="en-US" b="1" spc="-10" dirty="0">
                <a:latin typeface="Times New Roman"/>
                <a:cs typeface="Times New Roman"/>
              </a:rPr>
              <a:t>Arthur</a:t>
            </a:r>
            <a:r>
              <a:rPr lang="en-US" b="1" spc="-55" dirty="0">
                <a:latin typeface="Times New Roman"/>
                <a:cs typeface="Times New Roman"/>
              </a:rPr>
              <a:t> </a:t>
            </a:r>
            <a:r>
              <a:rPr lang="en-US" b="1" dirty="0">
                <a:latin typeface="Times New Roman"/>
                <a:cs typeface="Times New Roman"/>
              </a:rPr>
              <a:t>Samuel</a:t>
            </a:r>
            <a:r>
              <a:rPr lang="en-US" b="1" spc="-15" dirty="0">
                <a:latin typeface="Times New Roman"/>
                <a:cs typeface="Times New Roman"/>
              </a:rPr>
              <a:t> </a:t>
            </a:r>
            <a:r>
              <a:rPr lang="en-US" b="1" dirty="0">
                <a:latin typeface="Times New Roman"/>
                <a:cs typeface="Times New Roman"/>
              </a:rPr>
              <a:t>(1901–1990)</a:t>
            </a:r>
            <a:r>
              <a:rPr lang="en-US" b="1" spc="-35" dirty="0">
                <a:latin typeface="Times New Roman"/>
                <a:cs typeface="Times New Roman"/>
              </a:rPr>
              <a:t> </a:t>
            </a:r>
            <a:r>
              <a:rPr lang="en-US" dirty="0">
                <a:latin typeface="Times New Roman"/>
                <a:cs typeface="Times New Roman"/>
              </a:rPr>
              <a:t>known</a:t>
            </a:r>
            <a:r>
              <a:rPr lang="en-US" spc="-5" dirty="0">
                <a:latin typeface="Times New Roman"/>
                <a:cs typeface="Times New Roman"/>
              </a:rPr>
              <a:t> </a:t>
            </a:r>
            <a:r>
              <a:rPr lang="en-US" dirty="0">
                <a:latin typeface="Times New Roman"/>
                <a:cs typeface="Times New Roman"/>
              </a:rPr>
              <a:t>as</a:t>
            </a:r>
            <a:r>
              <a:rPr lang="en-US" spc="-30" dirty="0">
                <a:latin typeface="Times New Roman"/>
                <a:cs typeface="Times New Roman"/>
              </a:rPr>
              <a:t> </a:t>
            </a:r>
            <a:r>
              <a:rPr lang="en-US" dirty="0">
                <a:latin typeface="Times New Roman"/>
                <a:cs typeface="Times New Roman"/>
              </a:rPr>
              <a:t>the</a:t>
            </a:r>
            <a:r>
              <a:rPr lang="en-US" spc="30" dirty="0">
                <a:latin typeface="Times New Roman"/>
                <a:cs typeface="Times New Roman"/>
              </a:rPr>
              <a:t> </a:t>
            </a:r>
            <a:r>
              <a:rPr lang="en-US" b="1" spc="-10" dirty="0">
                <a:latin typeface="Times New Roman"/>
                <a:cs typeface="Times New Roman"/>
              </a:rPr>
              <a:t>‘’Father</a:t>
            </a:r>
            <a:r>
              <a:rPr lang="en-US" b="1" spc="-50" dirty="0">
                <a:latin typeface="Times New Roman"/>
                <a:cs typeface="Times New Roman"/>
              </a:rPr>
              <a:t> </a:t>
            </a:r>
            <a:r>
              <a:rPr lang="en-US" b="1" dirty="0">
                <a:latin typeface="Times New Roman"/>
                <a:cs typeface="Times New Roman"/>
              </a:rPr>
              <a:t>of Machine</a:t>
            </a:r>
            <a:r>
              <a:rPr lang="en-US" b="1" spc="15" dirty="0">
                <a:latin typeface="Times New Roman"/>
                <a:cs typeface="Times New Roman"/>
              </a:rPr>
              <a:t> </a:t>
            </a:r>
            <a:r>
              <a:rPr lang="en-US" b="1" dirty="0">
                <a:latin typeface="Times New Roman"/>
                <a:cs typeface="Times New Roman"/>
              </a:rPr>
              <a:t>Learning’’.</a:t>
            </a:r>
            <a:r>
              <a:rPr lang="en-US" b="1" spc="45" dirty="0">
                <a:latin typeface="Times New Roman"/>
                <a:cs typeface="Times New Roman"/>
              </a:rPr>
              <a:t> </a:t>
            </a:r>
            <a:r>
              <a:rPr lang="en-US" dirty="0">
                <a:latin typeface="Times New Roman"/>
                <a:cs typeface="Times New Roman"/>
              </a:rPr>
              <a:t>Coined</a:t>
            </a:r>
            <a:r>
              <a:rPr lang="en-US" spc="-10" dirty="0">
                <a:latin typeface="Times New Roman"/>
                <a:cs typeface="Times New Roman"/>
              </a:rPr>
              <a:t> </a:t>
            </a:r>
            <a:r>
              <a:rPr lang="en-US" spc="-25" dirty="0">
                <a:latin typeface="Times New Roman"/>
                <a:cs typeface="Times New Roman"/>
              </a:rPr>
              <a:t>the </a:t>
            </a:r>
            <a:r>
              <a:rPr lang="en-US" dirty="0">
                <a:latin typeface="Times New Roman"/>
                <a:cs typeface="Times New Roman"/>
              </a:rPr>
              <a:t>term</a:t>
            </a:r>
            <a:r>
              <a:rPr lang="en-US" spc="-40" dirty="0">
                <a:latin typeface="Times New Roman"/>
                <a:cs typeface="Times New Roman"/>
              </a:rPr>
              <a:t> </a:t>
            </a:r>
            <a:r>
              <a:rPr lang="en-US" b="1" dirty="0">
                <a:latin typeface="Times New Roman"/>
                <a:cs typeface="Times New Roman"/>
              </a:rPr>
              <a:t>“machine</a:t>
            </a:r>
            <a:r>
              <a:rPr lang="en-US" b="1" spc="5" dirty="0">
                <a:latin typeface="Times New Roman"/>
                <a:cs typeface="Times New Roman"/>
              </a:rPr>
              <a:t> </a:t>
            </a:r>
            <a:r>
              <a:rPr lang="en-US" b="1" dirty="0">
                <a:latin typeface="Times New Roman"/>
                <a:cs typeface="Times New Roman"/>
              </a:rPr>
              <a:t>learning”</a:t>
            </a:r>
            <a:r>
              <a:rPr lang="en-US" b="1" spc="30" dirty="0">
                <a:latin typeface="Times New Roman"/>
                <a:cs typeface="Times New Roman"/>
              </a:rPr>
              <a:t> </a:t>
            </a:r>
            <a:r>
              <a:rPr lang="en-US" dirty="0">
                <a:latin typeface="Times New Roman"/>
                <a:cs typeface="Times New Roman"/>
              </a:rPr>
              <a:t>in</a:t>
            </a:r>
            <a:r>
              <a:rPr lang="en-US" spc="-45" dirty="0">
                <a:latin typeface="Times New Roman"/>
                <a:cs typeface="Times New Roman"/>
              </a:rPr>
              <a:t> </a:t>
            </a:r>
            <a:r>
              <a:rPr lang="en-US" b="1" spc="-20" dirty="0">
                <a:latin typeface="Times New Roman"/>
                <a:cs typeface="Times New Roman"/>
              </a:rPr>
              <a:t>1959.</a:t>
            </a:r>
            <a:endParaRPr lang="en-US" dirty="0">
              <a:latin typeface="Times New Roman"/>
              <a:cs typeface="Times New Roman"/>
            </a:endParaRPr>
          </a:p>
          <a:p>
            <a:endParaRPr lang="en-IN" dirty="0"/>
          </a:p>
        </p:txBody>
      </p:sp>
    </p:spTree>
    <p:extLst>
      <p:ext uri="{BB962C8B-B14F-4D97-AF65-F5344CB8AC3E}">
        <p14:creationId xmlns:p14="http://schemas.microsoft.com/office/powerpoint/2010/main" val="33836605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513D-BEA2-6DF0-63C8-576B880DAC4B}"/>
              </a:ext>
            </a:extLst>
          </p:cNvPr>
          <p:cNvSpPr>
            <a:spLocks noGrp="1"/>
          </p:cNvSpPr>
          <p:nvPr>
            <p:ph type="title"/>
          </p:nvPr>
        </p:nvSpPr>
        <p:spPr>
          <a:xfrm>
            <a:off x="1066800" y="457518"/>
            <a:ext cx="10058400" cy="975042"/>
          </a:xfrm>
        </p:spPr>
        <p:txBody>
          <a:bodyPr/>
          <a:lstStyle/>
          <a:p>
            <a:pPr algn="ctr"/>
            <a:r>
              <a:rPr lang="en-US" dirty="0"/>
              <a:t>Conclusion</a:t>
            </a:r>
            <a:endParaRPr lang="en-IN" dirty="0"/>
          </a:p>
        </p:txBody>
      </p:sp>
      <p:sp>
        <p:nvSpPr>
          <p:cNvPr id="3" name="Content Placeholder 2">
            <a:extLst>
              <a:ext uri="{FF2B5EF4-FFF2-40B4-BE49-F238E27FC236}">
                <a16:creationId xmlns:a16="http://schemas.microsoft.com/office/drawing/2014/main" id="{EE4FA828-10A7-3818-D3AD-7A25F337A044}"/>
              </a:ext>
            </a:extLst>
          </p:cNvPr>
          <p:cNvSpPr>
            <a:spLocks noGrp="1"/>
          </p:cNvSpPr>
          <p:nvPr>
            <p:ph idx="1"/>
          </p:nvPr>
        </p:nvSpPr>
        <p:spPr>
          <a:xfrm>
            <a:off x="1066800" y="1646238"/>
            <a:ext cx="10058400" cy="4906962"/>
          </a:xfrm>
        </p:spPr>
        <p:txBody>
          <a:bodyPr>
            <a:normAutofit/>
          </a:bodyPr>
          <a:lstStyle/>
          <a:p>
            <a:r>
              <a:rPr lang="en-US" b="1" dirty="0">
                <a:latin typeface="Calibri" pitchFamily="34" charset="0"/>
                <a:ea typeface="Calibri" pitchFamily="34" charset="0"/>
                <a:cs typeface="Calibri" pitchFamily="34" charset="0"/>
              </a:rPr>
              <a:t>The Car Selling Price Prediction Model developed in this project demonstrates the practical application of data analysis and machine learning techniques in solving real-world business problems. By analyzing historical data of used cars, we were able to identify key features such as present price, kilometers driven, fuel type, transmission, number of previous owners, and year of manufacture, which significantly impact the resale value of a car.</a:t>
            </a:r>
          </a:p>
          <a:p>
            <a:endParaRPr lang="en-US" dirty="0">
              <a:latin typeface="Calibri" pitchFamily="34" charset="0"/>
              <a:ea typeface="Calibri" pitchFamily="34" charset="0"/>
              <a:cs typeface="Calibri" pitchFamily="34" charset="0"/>
            </a:endParaRPr>
          </a:p>
          <a:p>
            <a:r>
              <a:rPr lang="en-US" b="1" dirty="0">
                <a:latin typeface="Calibri" pitchFamily="34" charset="0"/>
                <a:ea typeface="Calibri" pitchFamily="34" charset="0"/>
                <a:cs typeface="Calibri" pitchFamily="34" charset="0"/>
              </a:rPr>
              <a:t> The preprocessing steps, including data cleaning, feature engineering, and encoding categorical variables, were crucial in preparing the data for model training. After experimenting with various regression algorithms—Linear Regression, Decision Tree Regressor, and Random Forest Regressor—we found that the Random Forest model provided the highest accuracy and robustness in predicting car selling prices. Its ability to handle non-linear relationships and complex feature interactions made it the best fit for this dataset</a:t>
            </a:r>
            <a:endParaRPr lang="en-IN" b="1" dirty="0"/>
          </a:p>
        </p:txBody>
      </p:sp>
    </p:spTree>
    <p:extLst>
      <p:ext uri="{BB962C8B-B14F-4D97-AF65-F5344CB8AC3E}">
        <p14:creationId xmlns:p14="http://schemas.microsoft.com/office/powerpoint/2010/main" val="210768806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121</TotalTime>
  <Words>706</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Black</vt:lpstr>
      <vt:lpstr>Calibri</vt:lpstr>
      <vt:lpstr>Cambria</vt:lpstr>
      <vt:lpstr>Symbol</vt:lpstr>
      <vt:lpstr>Times New Roman</vt:lpstr>
      <vt:lpstr>Trebuchet MS</vt:lpstr>
      <vt:lpstr>Wingdings 3</vt:lpstr>
      <vt:lpstr>Facet</vt:lpstr>
      <vt:lpstr>CAR SALES</vt:lpstr>
      <vt:lpstr>INTRODUCTION</vt:lpstr>
      <vt:lpstr>OBJECTIVE</vt:lpstr>
      <vt:lpstr>MICROSOFT_EXCEL</vt:lpstr>
      <vt:lpstr>Data Sell Model</vt:lpstr>
      <vt:lpstr>PowerPoint Presentation</vt:lpstr>
      <vt:lpstr>POWER BI</vt:lpstr>
      <vt:lpstr>Workflow of Power Bi</vt:lpstr>
      <vt:lpstr>PowerPoint Presentation</vt:lpstr>
      <vt:lpstr>TABLEAU</vt:lpstr>
      <vt:lpstr>Benefits Of Using Tableau</vt:lpstr>
      <vt:lpstr>PowerPoint Presentation</vt:lpstr>
      <vt:lpstr>MACHINE LEARNING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Suchismita Barik</dc:creator>
  <cp:lastModifiedBy>Shibani Subhadarsini</cp:lastModifiedBy>
  <cp:revision>5</cp:revision>
  <dcterms:created xsi:type="dcterms:W3CDTF">2025-07-29T18:25:27Z</dcterms:created>
  <dcterms:modified xsi:type="dcterms:W3CDTF">2025-07-30T02:31:44Z</dcterms:modified>
</cp:coreProperties>
</file>